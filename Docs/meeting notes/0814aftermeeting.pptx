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57" r:id="rId4"/>
    <p:sldId id="274" r:id="rId5"/>
    <p:sldId id="275" r:id="rId6"/>
    <p:sldId id="262" r:id="rId7"/>
    <p:sldId id="258" r:id="rId8"/>
    <p:sldId id="263" r:id="rId9"/>
    <p:sldId id="260" r:id="rId10"/>
    <p:sldId id="261" r:id="rId11"/>
    <p:sldId id="269" r:id="rId12"/>
    <p:sldId id="271" r:id="rId13"/>
    <p:sldId id="272" r:id="rId14"/>
    <p:sldId id="278" r:id="rId15"/>
    <p:sldId id="279" r:id="rId16"/>
    <p:sldId id="267" r:id="rId17"/>
    <p:sldId id="280" r:id="rId18"/>
    <p:sldId id="281" r:id="rId19"/>
    <p:sldId id="282" r:id="rId20"/>
    <p:sldId id="291" r:id="rId21"/>
    <p:sldId id="292" r:id="rId22"/>
    <p:sldId id="293" r:id="rId23"/>
    <p:sldId id="294" r:id="rId24"/>
    <p:sldId id="296" r:id="rId25"/>
    <p:sldId id="295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A27A2DE-D404-4E39-96F3-F8207532AED3}">
          <p14:sldIdLst>
            <p14:sldId id="276"/>
            <p14:sldId id="277"/>
            <p14:sldId id="257"/>
            <p14:sldId id="274"/>
            <p14:sldId id="275"/>
          </p14:sldIdLst>
        </p14:section>
        <p14:section name="Today" id="{D47115A2-1977-4F93-A927-B8DC1DA791B2}">
          <p14:sldIdLst>
            <p14:sldId id="262"/>
            <p14:sldId id="258"/>
            <p14:sldId id="263"/>
            <p14:sldId id="260"/>
            <p14:sldId id="261"/>
            <p14:sldId id="269"/>
            <p14:sldId id="271"/>
            <p14:sldId id="272"/>
            <p14:sldId id="278"/>
            <p14:sldId id="279"/>
            <p14:sldId id="267"/>
            <p14:sldId id="280"/>
            <p14:sldId id="281"/>
            <p14:sldId id="282"/>
          </p14:sldIdLst>
        </p14:section>
        <p14:section name="0814" id="{6456247A-DE7C-43D4-8E19-41186FEC560F}">
          <p14:sldIdLst>
            <p14:sldId id="291"/>
            <p14:sldId id="292"/>
            <p14:sldId id="293"/>
            <p14:sldId id="294"/>
            <p14:sldId id="296"/>
            <p14:sldId id="295"/>
            <p14:sldId id="297"/>
            <p14:sldId id="298"/>
            <p14:sldId id="299"/>
            <p14:sldId id="300"/>
          </p14:sldIdLst>
        </p14:section>
        <p14:section name="0827" id="{AB84690B-FA82-4E31-8CC7-1B3D3FA18B19}">
          <p14:sldIdLst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30612" units="1/cm"/>
          <inkml:channelProperty channel="T" name="resolution" value="1" units="1/dev"/>
        </inkml:channelProperties>
      </inkml:inkSource>
      <inkml:timestamp xml:id="ts0" timeString="2025-08-07T20:16:25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 3810 0,'0'0'0,"53"0"235,-35 0-235,17 0 15,53 0 1,-17-18 0,52 18-1,-88-17 1,1 17-16,17-18 0,17 18 15,1 0 1,-54 0 0,1 0-1,17-18-15,1 18 0,-1 0 16,53 0 0,-17 0-1,-54 0-15,36 0 0,-35 0 16,-1 0-1,19 0 1,-19 0 0,1 0-1,0 0 1,-1 0-16,1 0 16,0-17-16,17 17 15,0 0 1,0 0-1,18 0 1,-35 0 0,0 0 31,34 0-32,1 0 1,-35 0-1,35 0 17,-18 0-17,18 0 1,35 0 0,-52 0-1,17 0-15,-36 0 0,18 0 16,1 17-1,-19-17 1,19 0-16,-1 0 16,18 18 15,35-18-15,-70 0-16,-1 0 15,89 0 1,-53 0-1,35 0 1,-17 0 0,-18 0-1,0 18 1,17-18 0,-35 0-1,71 17 1,-70-17-1,-1 18 1,35 0 0,-34-18 15,-1 0-15,0 0-1,-17 0 1,35 17-1,-36-17-15,1 0 16,17 0 0,-17 0-16,35 0 15,35 0 1,-53 0 0,54 0-1,-54 0 1,53 0-16,-17 0 15,52 0 1,-52 0 15,-18 0-15,35 0 0,-71 0-16,36 0 15,35 0 1,-35 0-1,71 0 1,-54 0 0,19 0-1,-36 0-15,17 0 16,-17 0-16,35 0 16,0 0-1,-52 0-15,34 0 16,18 0-1,-52 0 1,-1 0-16,0 0 16,1 0-16,16 0 31,19 0-15,70 0-1,0 0 1,0 0-1,-123 0-15,53 18 16,34-18 0,-69 0-1,69 0 1,-69 0 0,-1 0-1,-17 0-15,70 0 16,-35 0-1,70 0 1,-52 0 0,-1 0-16,36 0 31,-35 0-15,123 0-1,-106 0 1,-53 0-1,1 0-15,34 0 16,-17 0 0,18 0-1,87 0 1,1-18 0,-18 1-1,-53 17-15,71 0 16,-88 0 15,-1 0-31,-17 0 0,124 0 31,-19 0-15,-34 0 0,70 17-1,-88-17 1,-36 0-1,-17 0-15,53 0 16,0 0 0,0 0-1,17 0 1,-52 0 0,34 0-1,-69-17-15,70-1 16,35 18-1,-18 0 1,36-18 0,-89 18 15,36 0-15,-70 0-16,-1 0 0,35 0 15,1 0-15,-36 0 16,89 0-1,-36 0-15,-18 0 0,19 0 16,105 0 0,0 18-1,-88-18-15,-36 0 16,18 0-16,-35 18 16,71-18-1,-1 0-15,18 17 16,36 18-1,-54 1 1,36-19 0,-106 1 15,17 17-15,-17-17-1,0-18 1,-35 0-16,105 18 31,-52-1-15,35-17-1,-18 18 1,-18-18 0,19 0-1,-19 17 1,1-17-1,35 0 1,70 0 15,-105 18-15,17-18 0,-35 0-1,17 0 1,18 0-1,89 0 1,-54 0 0,71 0-1,-88 0 1,-88 0 0,17 0-1,18 0 1,-18 0-1,36 0 17,-18 0-32,-18 0 15,0 0 1,106 0 0,-105 0-16,-19 0 31,1 0-16,0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06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24575,'84'1'0,"92"14"0,106-2 0,-35-5 0,694 59 0,-437-63 0,-273-6 0,-52 0 0,211 5 0,-222 8 0,26 1 0,746-7 0,-520-7 0,1966 2-1365,-2347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1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9:20:5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24221,'1770'128'0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1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54:53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24575,'2306'0'-2466,"-2074"-12"-2726,-115-2 6657,-2-6 3598,222-30-3761,1 23-1269,-10 1-238,-243 16 205,113-7 0,575 14 0,-401 5 0,-140 11 0,-129-4 0,273-5 0,-217-6 0,64 2-19,692 2-311,2 21 78,150 4-2184,4-26-1217,-593-2 3071,-130 19 582,-183-5 0,502 6 6423,-486-16-5574,138 9-849,110 0 0,-33-13-1365,-351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54:59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23892,'8839'52'0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C77B-551C-6FC0-7BFB-6C21799D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A5CAB-50F6-C86C-07EA-4CF3B8D65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76E94-C4DC-443A-53D4-96B945DC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8317-AED5-FC1B-FC8D-C20CDDB0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446D-C402-A83A-A624-C98733D9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8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C852-C056-9C10-3301-D6475E3B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F13CD-109E-5E6A-337D-B222D095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C1D0D-4AE9-F3E6-42EE-7F3A8380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4F572-E25E-7B2B-6CDE-D25A81CA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975BA-180D-24CB-7DEB-92E8134B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9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07D9-00FA-2078-5105-A31C914E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6EE5F-7F35-0C06-BB7F-9DEB21F1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812C-44DA-CCEA-D2F7-667D097D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CBE37-2F5E-8132-0A04-09F0C1C5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B50A1-0966-F594-5FE8-6B09A14B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1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11E9-3570-5ACD-9FB1-0D74EDDC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89C7-7C5F-38C7-F2E5-608421579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B51D6-4408-49B7-D67C-86274E8E2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D89FB-A484-7C13-420A-E5A2763E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488E-4A1B-B28E-E027-15A7B146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40D51-0B49-9ACA-C99B-3BA8192E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0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672C-76A3-B2A7-42E0-315AA2D6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5413-87F4-5600-5D9D-7D41473DB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F9CB5-9621-215A-7760-18C45C7A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A9300-8270-CF2E-A9E5-1F018E9BA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57A68-4DEC-A8A5-4E8C-6E6A1F3DF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666A0-3762-8365-E99F-A90FFD84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886ED-C866-E803-1DE9-53BFA53B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2E5B7-1FC4-7FAD-FC9D-674C0611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0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81CB-E5B4-6156-5279-1718561D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5E0C0-648B-186A-FF4E-49ABB6A7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10261-667F-D133-9A75-ADA981E6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8A962-1E61-9969-A373-138E7232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76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9A3DA-5ED4-1C79-7B76-8F421C43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FE423-FAEF-2909-3A16-DFF5818D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9C545-1FE7-2B33-498B-BCB22033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4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74BC-25B4-98E3-BB33-194CC9B1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D2F3-430E-91FE-29C5-6AFBAD83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58E40-5A7F-62F8-ADCE-2D8B444B3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BBAE4-925C-6F4B-8F1B-5AA15869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FA95C-52F7-0A5A-4691-58E56C4E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7C1EF-14F2-2354-92FC-D4D167C5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1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FC11-C6B2-A69C-5F15-014D66FC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693CA-B5E3-2B1F-2420-49074E30B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9DEA1-915C-8563-DDBC-9B8C9E3FA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BB3D6-DCB8-DD1A-2359-9D8A3857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75D41-8F97-0EA0-568B-DA1DF136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DA975-2125-2471-2D66-02954B4E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90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8229-C74D-1F82-7AB6-A71F367B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40DDB-89FD-3D60-0418-7D09BB6EC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5E41-76AD-8047-8826-97F8CC07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FB61-C6CD-5262-384A-32B3AC2A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33773-2655-267B-3EB0-A5DE560D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9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16814-4F77-EF54-96BE-11A0AD3FA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5EF2C-40B8-9D9A-A47E-3CAC8A3EE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1353-037E-ABDD-53FE-5789E54F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E6195-F03C-83B6-514B-A46A9940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7CD9-742D-8694-53ED-2E3BC300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35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5B2FB-B840-1514-662C-7B869353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1B24A-372F-F47D-FC03-EA625B360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2559-8402-3E5D-C333-DA2E299B4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665DE-610D-4530-B0E8-1E86B60EE432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5BB1-7006-9255-06DF-E256CDA79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22F3-816B-676B-BF81-30EA23A01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82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customXml" Target="../ink/ink3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0.png"/><Relationship Id="rId7" Type="http://schemas.openxmlformats.org/officeDocument/2006/relationships/image" Target="../media/image16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1151B1-963A-48D1-8703-9ED36F1E0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7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7051-F089-98C3-DCDD-1F5E10B8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970"/>
            <a:ext cx="10515600" cy="1325563"/>
          </a:xfrm>
        </p:spPr>
        <p:txBody>
          <a:bodyPr/>
          <a:lstStyle/>
          <a:p>
            <a:r>
              <a:rPr lang="en-US" dirty="0"/>
              <a:t>BG: what is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8B49-EECB-7004-AF84-A24DFFFD7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207008"/>
            <a:ext cx="11042904" cy="4969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 plots Az vs time + temps vs time  over 5 min  for few + </a:t>
            </a:r>
            <a:r>
              <a:rPr lang="en-US" dirty="0" err="1"/>
              <a:t>elvation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2 for one Az file (scatter)</a:t>
            </a:r>
          </a:p>
          <a:p>
            <a:pPr marL="0" indent="0">
              <a:buNone/>
            </a:pPr>
            <a:r>
              <a:rPr lang="en-US" dirty="0"/>
              <a:t>     3.0 data check how many line to time </a:t>
            </a:r>
          </a:p>
          <a:p>
            <a:pPr marL="0" indent="0">
              <a:buNone/>
            </a:pPr>
            <a:r>
              <a:rPr lang="en-US" dirty="0"/>
              <a:t>	hist line and time </a:t>
            </a:r>
          </a:p>
          <a:p>
            <a:pPr marL="0" indent="0">
              <a:buNone/>
            </a:pPr>
            <a:r>
              <a:rPr lang="en-US" dirty="0"/>
              <a:t>	good data break 5 min</a:t>
            </a:r>
          </a:p>
          <a:p>
            <a:pPr marL="0" indent="0">
              <a:buNone/>
            </a:pPr>
            <a:r>
              <a:rPr lang="en-US" dirty="0"/>
              <a:t>3 record median </a:t>
            </a:r>
            <a:r>
              <a:rPr lang="en-US" dirty="0" err="1"/>
              <a:t>ave</a:t>
            </a:r>
            <a:r>
              <a:rPr lang="en-US" dirty="0"/>
              <a:t> max min std (good) number of data point  time for data files (time format: </a:t>
            </a:r>
            <a:r>
              <a:rPr lang="en-US" dirty="0" err="1"/>
              <a:t>ctime</a:t>
            </a:r>
            <a:r>
              <a:rPr lang="en-US" dirty="0"/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3.1summary file with {filename}  </a:t>
            </a:r>
            <a:r>
              <a:rPr lang="en-US" dirty="0" err="1"/>
              <a:t>npy</a:t>
            </a:r>
            <a:r>
              <a:rPr lang="en-US" dirty="0"/>
              <a:t> vs csv  time and space 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3.2 during am run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4(further) overview slides </a:t>
            </a:r>
          </a:p>
          <a:p>
            <a:pPr marL="514350" indent="-514350">
              <a:buAutoNum type="arabicPlain" startAt="3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E32FBA-019B-1571-CCED-31A6317C1EE0}"/>
              </a:ext>
            </a:extLst>
          </p:cNvPr>
          <p:cNvSpPr txBox="1">
            <a:spLocks/>
          </p:cNvSpPr>
          <p:nvPr/>
        </p:nvSpPr>
        <p:spPr>
          <a:xfrm>
            <a:off x="1437132" y="1603533"/>
            <a:ext cx="6576060" cy="45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line of sight to zenith </a:t>
            </a:r>
          </a:p>
        </p:txBody>
      </p:sp>
    </p:spTree>
    <p:extLst>
      <p:ext uri="{BB962C8B-B14F-4D97-AF65-F5344CB8AC3E}">
        <p14:creationId xmlns:p14="http://schemas.microsoft.com/office/powerpoint/2010/main" val="273957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Diagram of a diagram of a slope&#10;&#10;AI-generated content may be incorrect.">
            <a:extLst>
              <a:ext uri="{FF2B5EF4-FFF2-40B4-BE49-F238E27FC236}">
                <a16:creationId xmlns:a16="http://schemas.microsoft.com/office/drawing/2014/main" id="{42DAAB27-0A38-D061-6D76-4426721EC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709947"/>
            <a:ext cx="5895213" cy="41335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0907F7-AEFF-FB05-E679-83F42433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used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3A76B-5F0D-0D88-2A56-9C0AD1890B7D}"/>
              </a:ext>
            </a:extLst>
          </p:cNvPr>
          <p:cNvSpPr txBox="1"/>
          <p:nvPr/>
        </p:nvSpPr>
        <p:spPr>
          <a:xfrm>
            <a:off x="838200" y="2478083"/>
            <a:ext cx="5772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  <a:p>
            <a:r>
              <a:rPr lang="en-US" dirty="0"/>
              <a:t>TSRC0 TSRC1 TSRC2 TSRC3 : the observing temperature </a:t>
            </a:r>
          </a:p>
          <a:p>
            <a:r>
              <a:rPr lang="en-US" dirty="0"/>
              <a:t>EL </a:t>
            </a:r>
          </a:p>
          <a:p>
            <a:r>
              <a:rPr lang="en-US" dirty="0"/>
              <a:t>AZ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E34FB4-BAD2-8F79-8931-F8CCCE6A3966}"/>
              </a:ext>
            </a:extLst>
          </p:cNvPr>
          <p:cNvSpPr txBox="1"/>
          <p:nvPr/>
        </p:nvSpPr>
        <p:spPr>
          <a:xfrm>
            <a:off x="838200" y="1622720"/>
            <a:ext cx="865281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TIME …… TSRC0 TSRC1 TSRC2 TSRC3 EL AZ</a:t>
            </a:r>
          </a:p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2024-06-12T19:01:36.642127 …… 64.9747390747 34.9560852051 21.7463874817 16.6668453217 55.0 2.625</a:t>
            </a:r>
          </a:p>
        </p:txBody>
      </p:sp>
    </p:spTree>
    <p:extLst>
      <p:ext uri="{BB962C8B-B14F-4D97-AF65-F5344CB8AC3E}">
        <p14:creationId xmlns:p14="http://schemas.microsoft.com/office/powerpoint/2010/main" val="144513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7BB8-5044-7AFE-5C86-54D8CAE5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D369-9A6B-7D5E-3F16-8031223AF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1D730-0653-5A44-F82A-06DD7C22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25" y="1413710"/>
            <a:ext cx="11067550" cy="5366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1969D9-3010-652F-261F-D12810814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938" y="148647"/>
            <a:ext cx="550621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1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FED9-609E-F0C2-4B37-1CD1A2EA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D3707-0B08-3AE3-1EB8-0DEDDE104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02D8D-33EF-EAEA-0583-BA7DA174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132"/>
            <a:ext cx="12192000" cy="554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6EB1CB07-4FD4-A0C2-3336-71A1D23C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6" t="48702" r="22797"/>
          <a:stretch>
            <a:fillRect/>
          </a:stretch>
        </p:blipFill>
        <p:spPr>
          <a:xfrm>
            <a:off x="269506" y="1039527"/>
            <a:ext cx="5707782" cy="705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C5FC2-9941-2E65-1DE0-31041B015040}"/>
              </a:ext>
            </a:extLst>
          </p:cNvPr>
          <p:cNvSpPr txBox="1"/>
          <p:nvPr/>
        </p:nvSpPr>
        <p:spPr>
          <a:xfrm>
            <a:off x="173254" y="192505"/>
            <a:ext cx="2293064" cy="70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 fitting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F0DFE5-A6DC-DE55-E727-98D622B10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6" y="2204183"/>
            <a:ext cx="8564170" cy="22863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4E12F6-1DC6-57D8-8E13-F59581811CF3}"/>
              </a:ext>
            </a:extLst>
          </p:cNvPr>
          <p:cNvSpPr txBox="1"/>
          <p:nvPr/>
        </p:nvSpPr>
        <p:spPr>
          <a:xfrm>
            <a:off x="6096000" y="97572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F37B7-A53B-2D02-0F99-150B3529D79C}"/>
              </a:ext>
            </a:extLst>
          </p:cNvPr>
          <p:cNvSpPr txBox="1"/>
          <p:nvPr/>
        </p:nvSpPr>
        <p:spPr>
          <a:xfrm>
            <a:off x="269506" y="4775580"/>
            <a:ext cx="10913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first warning seems to happen mostly in the mesosphere and stratosphere, rather than in the troposphere. Therefore, the </a:t>
            </a:r>
            <a:r>
              <a:rPr lang="en-US" altLang="en-US" sz="2400" dirty="0" err="1">
                <a:latin typeface="Arial" panose="020B0604020202020204" pitchFamily="34" charset="0"/>
              </a:rPr>
              <a:t>pwv</a:t>
            </a:r>
            <a:r>
              <a:rPr lang="en-US" altLang="en-US" sz="2400" dirty="0">
                <a:latin typeface="Arial" panose="020B0604020202020204" pitchFamily="34" charset="0"/>
              </a:rPr>
              <a:t> should have a very low influence.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second warning is about the output tau, which we did use.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D1CA49-B4FE-8A01-AF1D-D2E10A2490BC}"/>
                  </a:ext>
                </a:extLst>
              </p14:cNvPr>
              <p14:cNvContentPartPr/>
              <p14:nvPr/>
            </p14:nvContentPartPr>
            <p14:xfrm>
              <a:off x="368280" y="1339920"/>
              <a:ext cx="5531400" cy="13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D1CA49-B4FE-8A01-AF1D-D2E10A2490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920" y="1330560"/>
                <a:ext cx="555012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46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80FA-537A-8AB3-577D-A17CDEB7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0517"/>
            <a:ext cx="10515600" cy="1325563"/>
          </a:xfrm>
        </p:spPr>
        <p:txBody>
          <a:bodyPr/>
          <a:lstStyle/>
          <a:p>
            <a:r>
              <a:rPr lang="en-US" dirty="0"/>
              <a:t>What’s the different of am fitting file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46278-C645-4232-AD32-6E724E95E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35001" r="55252" b="7608"/>
          <a:stretch>
            <a:fillRect/>
          </a:stretch>
        </p:blipFill>
        <p:spPr>
          <a:xfrm>
            <a:off x="202130" y="1491916"/>
            <a:ext cx="5893869" cy="419378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0F3FFD-9827-E3A1-898C-6E19E06ED1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35" r="43072" b="7142"/>
          <a:stretch>
            <a:fillRect/>
          </a:stretch>
        </p:blipFill>
        <p:spPr>
          <a:xfrm>
            <a:off x="6319499" y="1491916"/>
            <a:ext cx="5679996" cy="41937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05502C-906D-E43D-5E3B-BFA0736E8279}"/>
              </a:ext>
            </a:extLst>
          </p:cNvPr>
          <p:cNvSpPr txBox="1"/>
          <p:nvPr/>
        </p:nvSpPr>
        <p:spPr>
          <a:xfrm>
            <a:off x="845820" y="5685697"/>
            <a:ext cx="2136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am Cookbook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84451-494B-1FD8-8202-BB9FBAD77D8F}"/>
              </a:ext>
            </a:extLst>
          </p:cNvPr>
          <p:cNvSpPr txBox="1"/>
          <p:nvPr/>
        </p:nvSpPr>
        <p:spPr>
          <a:xfrm>
            <a:off x="6812280" y="5636517"/>
            <a:ext cx="615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Sofia’s code GitHub:</a:t>
            </a:r>
          </a:p>
          <a:p>
            <a:r>
              <a:rPr lang="en-US" dirty="0"/>
              <a:t>WVR-pipeline/ Templates/SPole_annual_50.amc</a:t>
            </a:r>
          </a:p>
        </p:txBody>
      </p:sp>
    </p:spTree>
    <p:extLst>
      <p:ext uri="{BB962C8B-B14F-4D97-AF65-F5344CB8AC3E}">
        <p14:creationId xmlns:p14="http://schemas.microsoft.com/office/powerpoint/2010/main" val="254902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CA2523-5D32-9B6E-0CE8-2B0CF77B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63595D-BB6F-02D8-8D0E-8ABAC6FBCE4A}"/>
              </a:ext>
            </a:extLst>
          </p:cNvPr>
          <p:cNvSpPr txBox="1"/>
          <p:nvPr/>
        </p:nvSpPr>
        <p:spPr>
          <a:xfrm>
            <a:off x="173254" y="192505"/>
            <a:ext cx="2293064" cy="70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 fitting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26C7D7-AAE3-254A-4799-3EE85BEEF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040" y="2057685"/>
            <a:ext cx="7978321" cy="98840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5CB9E2B-7275-90F3-10B2-998DC0F88508}"/>
              </a:ext>
            </a:extLst>
          </p:cNvPr>
          <p:cNvGrpSpPr/>
          <p:nvPr/>
        </p:nvGrpSpPr>
        <p:grpSpPr>
          <a:xfrm>
            <a:off x="3421673" y="3557888"/>
            <a:ext cx="8501773" cy="543857"/>
            <a:chOff x="2644763" y="3900988"/>
            <a:chExt cx="8501773" cy="54385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FF09BE9-9D1E-F5F3-A9B2-0B214D549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4763" y="3900988"/>
              <a:ext cx="8501773" cy="54385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660B43-A5F2-C9A9-6795-6F08541F5FE8}"/>
                </a:ext>
              </a:extLst>
            </p:cNvPr>
            <p:cNvSpPr/>
            <p:nvPr/>
          </p:nvSpPr>
          <p:spPr>
            <a:xfrm>
              <a:off x="9006840" y="4160520"/>
              <a:ext cx="2139696" cy="2843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725F19-EDB2-AF8B-7821-E9B61169D865}"/>
              </a:ext>
            </a:extLst>
          </p:cNvPr>
          <p:cNvSpPr txBox="1"/>
          <p:nvPr/>
        </p:nvSpPr>
        <p:spPr>
          <a:xfrm>
            <a:off x="3516973" y="4101745"/>
            <a:ext cx="85017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amc</a:t>
            </a:r>
            <a:r>
              <a:rPr lang="en-US" dirty="0"/>
              <a:t>, we expect the </a:t>
            </a:r>
            <a:r>
              <a:rPr lang="en-US" dirty="0" err="1"/>
              <a:t>dat</a:t>
            </a:r>
            <a:r>
              <a:rPr lang="en-US" dirty="0"/>
              <a:t> file as</a:t>
            </a:r>
          </a:p>
          <a:p>
            <a:r>
              <a:rPr lang="en-US" dirty="0"/>
              <a:t>	 frequence(</a:t>
            </a:r>
            <a:r>
              <a:rPr lang="en-US" dirty="0" err="1"/>
              <a:t>v_i</a:t>
            </a:r>
            <a:r>
              <a:rPr lang="en-US" dirty="0"/>
              <a:t>) 	</a:t>
            </a:r>
            <a:r>
              <a:rPr lang="en-US" dirty="0" err="1"/>
              <a:t>bandwith</a:t>
            </a:r>
            <a:r>
              <a:rPr lang="en-US" dirty="0"/>
              <a:t>(</a:t>
            </a:r>
            <a:r>
              <a:rPr lang="en-US" dirty="0" err="1"/>
              <a:t>b_i</a:t>
            </a:r>
            <a:r>
              <a:rPr lang="en-US" dirty="0"/>
              <a:t>)  	spectral data (</a:t>
            </a:r>
            <a:r>
              <a:rPr lang="en-US" dirty="0" err="1"/>
              <a:t>s_i</a:t>
            </a:r>
            <a:r>
              <a:rPr lang="en-US" dirty="0"/>
              <a:t>)</a:t>
            </a:r>
          </a:p>
          <a:p>
            <a:r>
              <a:rPr lang="en-US" dirty="0"/>
              <a:t>So, the </a:t>
            </a:r>
            <a:r>
              <a:rPr lang="en-US" dirty="0" err="1"/>
              <a:t>dat</a:t>
            </a:r>
            <a:r>
              <a:rPr lang="en-US" dirty="0"/>
              <a:t> is means:</a:t>
            </a:r>
          </a:p>
          <a:p>
            <a:r>
              <a:rPr lang="en-US" dirty="0"/>
              <a:t>	observing 184.55(183.3 + 1.25)  GHz, the bandwidth is 1.50 GHz, spectral data is the observing temperature 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8A343FB-936E-2D97-F687-96C21E34F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040" y="3082304"/>
            <a:ext cx="5109124" cy="475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525A4-61E9-BC98-9A8B-05E443962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040" y="324505"/>
            <a:ext cx="7833359" cy="1667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342654-F483-2802-D5EB-945D0DCC2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25" y="3587953"/>
            <a:ext cx="3379148" cy="2546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1C7DFD-F0E9-A185-4141-DDC1AE4C5EA8}"/>
              </a:ext>
            </a:extLst>
          </p:cNvPr>
          <p:cNvSpPr txBox="1"/>
          <p:nvPr/>
        </p:nvSpPr>
        <p:spPr>
          <a:xfrm>
            <a:off x="173254" y="6111497"/>
            <a:ext cx="5047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From B.Nikolicetal.:PhasecorrectionforALMAwith183GHzwatervapourradiometers, 2013</a:t>
            </a:r>
          </a:p>
        </p:txBody>
      </p:sp>
    </p:spTree>
    <p:extLst>
      <p:ext uri="{BB962C8B-B14F-4D97-AF65-F5344CB8AC3E}">
        <p14:creationId xmlns:p14="http://schemas.microsoft.com/office/powerpoint/2010/main" val="36277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171B-69DA-55D5-4F3D-7E192123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r>
              <a:rPr lang="en-US" dirty="0" err="1"/>
              <a:t>amc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F148-F399-7F4B-E940-5C1FDAE21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CF5D0-3823-187A-ACFF-D1D7E3EEC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765" y="78882"/>
            <a:ext cx="6513225" cy="6660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2399EB-2705-52BB-4D23-D56054595D9A}"/>
                  </a:ext>
                </a:extLst>
              </p14:cNvPr>
              <p14:cNvContentPartPr/>
              <p14:nvPr/>
            </p14:nvContentPartPr>
            <p14:xfrm>
              <a:off x="5948242" y="2492716"/>
              <a:ext cx="2585520" cy="4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2399EB-2705-52BB-4D23-D56054595D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9602" y="2484076"/>
                <a:ext cx="26031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16A474-8ADC-C31D-C06B-3A952F2793AC}"/>
                  </a:ext>
                </a:extLst>
              </p14:cNvPr>
              <p14:cNvContentPartPr/>
              <p14:nvPr/>
            </p14:nvContentPartPr>
            <p14:xfrm>
              <a:off x="-260678" y="230011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16A474-8ADC-C31D-C06B-3A952F2793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69318" y="229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660623-556C-07A0-83FA-A8DB0AC9BC1C}"/>
                  </a:ext>
                </a:extLst>
              </p14:cNvPr>
              <p14:cNvContentPartPr/>
              <p14:nvPr/>
            </p14:nvContentPartPr>
            <p14:xfrm>
              <a:off x="7887665" y="2179753"/>
              <a:ext cx="637560" cy="4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660623-556C-07A0-83FA-A8DB0AC9BC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78665" y="2170753"/>
                <a:ext cx="65520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97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9182AA-E03F-1874-29C3-07E20A10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FE40-4532-F02C-135E-5E6480CB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r>
              <a:rPr lang="en-US" dirty="0" err="1"/>
              <a:t>amc</a:t>
            </a:r>
            <a:r>
              <a:rPr lang="en-US" dirty="0"/>
              <a:t> file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090EB6-5EEA-DD31-311E-0CE7C88343AA}"/>
                  </a:ext>
                </a:extLst>
              </p14:cNvPr>
              <p14:cNvContentPartPr/>
              <p14:nvPr/>
            </p14:nvContentPartPr>
            <p14:xfrm>
              <a:off x="-260678" y="230011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090EB6-5EEA-DD31-311E-0CE7C88343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9678" y="229111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95313C-5ACE-5B48-4D91-A4A0BB29C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35" y="1761101"/>
            <a:ext cx="5372850" cy="1905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904072-CC36-01BA-75F5-6551D4511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245" y="73585"/>
            <a:ext cx="6266404" cy="6710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653EA8-ED21-BBD7-2867-725A0FFAC0E7}"/>
                  </a:ext>
                </a:extLst>
              </p14:cNvPr>
              <p14:cNvContentPartPr/>
              <p14:nvPr/>
            </p14:nvContentPartPr>
            <p14:xfrm>
              <a:off x="484416" y="2998296"/>
              <a:ext cx="4785480" cy="64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653EA8-ED21-BBD7-2867-725A0FFAC0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6" y="2989656"/>
                <a:ext cx="48031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04668D-08C1-955E-33E1-54C7E2A7B6F1}"/>
                  </a:ext>
                </a:extLst>
              </p14:cNvPr>
              <p14:cNvContentPartPr/>
              <p14:nvPr/>
            </p14:nvContentPartPr>
            <p14:xfrm>
              <a:off x="8649936" y="6071256"/>
              <a:ext cx="318240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04668D-08C1-955E-33E1-54C7E2A7B6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40936" y="6062256"/>
                <a:ext cx="320004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32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C0D52C-6D78-193D-6237-B7E4284A6756}"/>
              </a:ext>
            </a:extLst>
          </p:cNvPr>
          <p:cNvSpPr txBox="1"/>
          <p:nvPr/>
        </p:nvSpPr>
        <p:spPr>
          <a:xfrm>
            <a:off x="-15188" y="58092"/>
            <a:ext cx="12338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Compare Data </a:t>
            </a:r>
            <a:r>
              <a:rPr lang="en-US" sz="2000" b="1" i="1" dirty="0"/>
              <a:t>20250101 010136.531267 to 011150.083026  </a:t>
            </a:r>
            <a:r>
              <a:rPr lang="en-US" sz="2000" b="1" dirty="0"/>
              <a:t>and</a:t>
            </a:r>
            <a:r>
              <a:rPr lang="en-US" sz="2000" b="1" i="1" dirty="0"/>
              <a:t> 20250101 011151.039968 to 012204.487716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57F24-9662-955A-6D43-F73C57EE0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806" y="503198"/>
            <a:ext cx="9575594" cy="1452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1BDF3A-4253-12FC-BF34-582DD418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74"/>
          <a:stretch>
            <a:fillRect/>
          </a:stretch>
        </p:blipFill>
        <p:spPr>
          <a:xfrm>
            <a:off x="978106" y="2354062"/>
            <a:ext cx="10496598" cy="3879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4A171E-427C-F9C5-9544-57B5B1513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06" y="6390363"/>
            <a:ext cx="10800000" cy="2683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AE33BE-0DE2-C63E-E39A-403D349A35A9}"/>
              </a:ext>
            </a:extLst>
          </p:cNvPr>
          <p:cNvSpPr txBox="1"/>
          <p:nvPr/>
        </p:nvSpPr>
        <p:spPr>
          <a:xfrm>
            <a:off x="138251" y="1954868"/>
            <a:ext cx="313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The output </a:t>
            </a:r>
            <a:r>
              <a:rPr lang="en-US" sz="2000" b="1" dirty="0" err="1"/>
              <a:t>amc</a:t>
            </a:r>
            <a:r>
              <a:rPr lang="en-US" sz="2000" b="1" dirty="0"/>
              <a:t> different:</a:t>
            </a:r>
          </a:p>
        </p:txBody>
      </p:sp>
    </p:spTree>
    <p:extLst>
      <p:ext uri="{BB962C8B-B14F-4D97-AF65-F5344CB8AC3E}">
        <p14:creationId xmlns:p14="http://schemas.microsoft.com/office/powerpoint/2010/main" val="332621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EBDA7-E91A-46FF-0A5B-8CBC72897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34756"/>
            <a:ext cx="11811000" cy="598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8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257E34-4AA2-1A98-61D1-0868346C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810075"/>
            <a:ext cx="11861800" cy="52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red lines&#10;&#10;AI-generated content may be incorrect.">
            <a:extLst>
              <a:ext uri="{FF2B5EF4-FFF2-40B4-BE49-F238E27FC236}">
                <a16:creationId xmlns:a16="http://schemas.microsoft.com/office/drawing/2014/main" id="{4A60B9C4-644A-DCD3-011E-B536297A2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06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CE485C-B7B4-5679-B21F-F9B5D26C8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42FD-CD1C-FE56-8F8C-85A63867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BADD-6FE2-1DC9-A919-48DB0245A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AE685-1E38-8F35-3150-7608CDC5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10"/>
          <a:stretch>
            <a:fillRect/>
          </a:stretch>
        </p:blipFill>
        <p:spPr>
          <a:xfrm>
            <a:off x="91440" y="0"/>
            <a:ext cx="11521439" cy="65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9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a blue line&#10;&#10;AI-generated content may be incorrect.">
            <a:extLst>
              <a:ext uri="{FF2B5EF4-FFF2-40B4-BE49-F238E27FC236}">
                <a16:creationId xmlns:a16="http://schemas.microsoft.com/office/drawing/2014/main" id="{59757404-A945-B2FF-6C8D-EF85195E8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0" t="7084" b="6458"/>
          <a:stretch>
            <a:fillRect/>
          </a:stretch>
        </p:blipFill>
        <p:spPr>
          <a:xfrm>
            <a:off x="160626" y="116840"/>
            <a:ext cx="12951931" cy="6101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53F35-896B-BCAB-40D7-78CBA9FCC885}"/>
              </a:ext>
            </a:extLst>
          </p:cNvPr>
          <p:cNvSpPr txBox="1"/>
          <p:nvPr/>
        </p:nvSpPr>
        <p:spPr>
          <a:xfrm>
            <a:off x="3145536" y="448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2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9B05-ED44-1187-A08A-2030AE49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0B752-232D-B027-22ED-1EC1E2399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79A19-76F9-72BE-4060-302405F94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687" y="0"/>
            <a:ext cx="8556625" cy="661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38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3EB9C-7245-1624-389F-279640F9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25" y="144845"/>
            <a:ext cx="8185150" cy="628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29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02ACA3-CFF0-7860-DA1F-2AFA9110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37" y="362274"/>
            <a:ext cx="7731126" cy="613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1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2815-AF27-BC4D-F609-FBF5C09B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lines on a white background&#10;&#10;AI-generated content may be incorrect.">
            <a:extLst>
              <a:ext uri="{FF2B5EF4-FFF2-40B4-BE49-F238E27FC236}">
                <a16:creationId xmlns:a16="http://schemas.microsoft.com/office/drawing/2014/main" id="{1754DEF7-6DF3-8134-595B-68D042769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4772" y="-1"/>
            <a:ext cx="13324114" cy="6662057"/>
          </a:xfrm>
        </p:spPr>
      </p:pic>
    </p:spTree>
    <p:extLst>
      <p:ext uri="{BB962C8B-B14F-4D97-AF65-F5344CB8AC3E}">
        <p14:creationId xmlns:p14="http://schemas.microsoft.com/office/powerpoint/2010/main" val="3743580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1670-3B29-21B2-E82A-981824DD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93613-D407-2F04-34B3-2A34093E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789DAC61-6594-8909-6585-1B08B41F7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386" y="0"/>
            <a:ext cx="1371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28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833C5-1E8F-6004-D91C-4246224A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with orange lines&#10;&#10;AI-generated content may be incorrect.">
            <a:extLst>
              <a:ext uri="{FF2B5EF4-FFF2-40B4-BE49-F238E27FC236}">
                <a16:creationId xmlns:a16="http://schemas.microsoft.com/office/drawing/2014/main" id="{C087FFF8-DB0B-A093-C08F-16A0C231C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522" y="56408"/>
            <a:ext cx="13490368" cy="6745184"/>
          </a:xfrm>
        </p:spPr>
      </p:pic>
    </p:spTree>
    <p:extLst>
      <p:ext uri="{BB962C8B-B14F-4D97-AF65-F5344CB8AC3E}">
        <p14:creationId xmlns:p14="http://schemas.microsoft.com/office/powerpoint/2010/main" val="204328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027E-178C-5586-976F-0F8F6C88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15623578-32D2-49D2-FACB-AF67973CA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182" y="103909"/>
            <a:ext cx="13300364" cy="6650182"/>
          </a:xfrm>
        </p:spPr>
      </p:pic>
    </p:spTree>
    <p:extLst>
      <p:ext uri="{BB962C8B-B14F-4D97-AF65-F5344CB8AC3E}">
        <p14:creationId xmlns:p14="http://schemas.microsoft.com/office/powerpoint/2010/main" val="1911856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8C1B-2D58-9B7E-1EEE-52C9FA50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een line graph with white background&#10;&#10;AI-generated content may be incorrect.">
            <a:extLst>
              <a:ext uri="{FF2B5EF4-FFF2-40B4-BE49-F238E27FC236}">
                <a16:creationId xmlns:a16="http://schemas.microsoft.com/office/drawing/2014/main" id="{7B546698-9018-63A4-BAE9-6C7D8EFCE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5401" y="0"/>
            <a:ext cx="13716000" cy="6858000"/>
          </a:xfrm>
        </p:spPr>
      </p:pic>
    </p:spTree>
    <p:extLst>
      <p:ext uri="{BB962C8B-B14F-4D97-AF65-F5344CB8AC3E}">
        <p14:creationId xmlns:p14="http://schemas.microsoft.com/office/powerpoint/2010/main" val="2647995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7E2F-7E3F-C82C-38AE-F1599846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een graph with white text&#10;&#10;AI-generated content may be incorrect.">
            <a:extLst>
              <a:ext uri="{FF2B5EF4-FFF2-40B4-BE49-F238E27FC236}">
                <a16:creationId xmlns:a16="http://schemas.microsoft.com/office/drawing/2014/main" id="{694A04CE-D44D-1831-D08A-511DCB5D2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4773" y="0"/>
            <a:ext cx="13716000" cy="6858000"/>
          </a:xfrm>
        </p:spPr>
      </p:pic>
    </p:spTree>
    <p:extLst>
      <p:ext uri="{BB962C8B-B14F-4D97-AF65-F5344CB8AC3E}">
        <p14:creationId xmlns:p14="http://schemas.microsoft.com/office/powerpoint/2010/main" val="689380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28C8-A49F-BD5C-61C7-FE42013D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showing a graph&#10;&#10;AI-generated content may be incorrect.">
            <a:extLst>
              <a:ext uri="{FF2B5EF4-FFF2-40B4-BE49-F238E27FC236}">
                <a16:creationId xmlns:a16="http://schemas.microsoft.com/office/drawing/2014/main" id="{0F78E4BE-5590-C488-B272-A2A93C9AB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3525" y="0"/>
            <a:ext cx="13716000" cy="6858000"/>
          </a:xfrm>
        </p:spPr>
      </p:pic>
    </p:spTree>
    <p:extLst>
      <p:ext uri="{BB962C8B-B14F-4D97-AF65-F5344CB8AC3E}">
        <p14:creationId xmlns:p14="http://schemas.microsoft.com/office/powerpoint/2010/main" val="2416539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8690-898F-DF72-B638-E8A1A4C6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E48ACEA5-82DD-C886-235E-0C4CC112A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9774" y="0"/>
            <a:ext cx="13716000" cy="6858000"/>
          </a:xfrm>
        </p:spPr>
      </p:pic>
    </p:spTree>
    <p:extLst>
      <p:ext uri="{BB962C8B-B14F-4D97-AF65-F5344CB8AC3E}">
        <p14:creationId xmlns:p14="http://schemas.microsoft.com/office/powerpoint/2010/main" val="1713242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DF5EF3-4E19-C6FD-F143-116DBC2B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51" y="623197"/>
            <a:ext cx="5663610" cy="404646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11C1C7E-A35F-4DC1-58D7-4EF2C0D13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968"/>
          <a:stretch>
            <a:fillRect/>
          </a:stretch>
        </p:blipFill>
        <p:spPr>
          <a:xfrm>
            <a:off x="6060561" y="805017"/>
            <a:ext cx="5509372" cy="36828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8E160C-4908-DEDF-3581-BD50B279D79F}"/>
              </a:ext>
            </a:extLst>
          </p:cNvPr>
          <p:cNvSpPr txBox="1"/>
          <p:nvPr/>
        </p:nvSpPr>
        <p:spPr>
          <a:xfrm>
            <a:off x="2482916" y="453920"/>
            <a:ext cx="1447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MERRA-2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8ADF0-8771-5E12-E23D-DAA2E8EC7B97}"/>
              </a:ext>
            </a:extLst>
          </p:cNvPr>
          <p:cNvSpPr txBox="1"/>
          <p:nvPr/>
        </p:nvSpPr>
        <p:spPr>
          <a:xfrm>
            <a:off x="2751611" y="4512140"/>
            <a:ext cx="1441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From: Kuo, 2017</a:t>
            </a:r>
          </a:p>
        </p:txBody>
      </p:sp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A819EB07-4F83-0769-EDE7-BC0302FC4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083926"/>
              </p:ext>
            </p:extLst>
          </p:nvPr>
        </p:nvGraphicFramePr>
        <p:xfrm>
          <a:off x="4905156" y="4851481"/>
          <a:ext cx="597939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849">
                  <a:extLst>
                    <a:ext uri="{9D8B030D-6E8A-4147-A177-3AD203B41FA5}">
                      <a16:colId xmlns:a16="http://schemas.microsoft.com/office/drawing/2014/main" val="3959849250"/>
                    </a:ext>
                  </a:extLst>
                </a:gridCol>
                <a:gridCol w="1494849">
                  <a:extLst>
                    <a:ext uri="{9D8B030D-6E8A-4147-A177-3AD203B41FA5}">
                      <a16:colId xmlns:a16="http://schemas.microsoft.com/office/drawing/2014/main" val="1678413133"/>
                    </a:ext>
                  </a:extLst>
                </a:gridCol>
                <a:gridCol w="1494849">
                  <a:extLst>
                    <a:ext uri="{9D8B030D-6E8A-4147-A177-3AD203B41FA5}">
                      <a16:colId xmlns:a16="http://schemas.microsoft.com/office/drawing/2014/main" val="519762489"/>
                    </a:ext>
                  </a:extLst>
                </a:gridCol>
                <a:gridCol w="1494849">
                  <a:extLst>
                    <a:ext uri="{9D8B030D-6E8A-4147-A177-3AD203B41FA5}">
                      <a16:colId xmlns:a16="http://schemas.microsoft.com/office/drawing/2014/main" val="1663892318"/>
                    </a:ext>
                  </a:extLst>
                </a:gridCol>
              </a:tblGrid>
              <a:tr h="5644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 (median)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281417"/>
                  </a:ext>
                </a:extLst>
              </a:tr>
              <a:tr h="322519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PWV(mm)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101281"/>
                  </a:ext>
                </a:extLst>
              </a:tr>
              <a:tr h="326998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MERRA-2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0.448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05574"/>
                  </a:ext>
                </a:extLst>
              </a:tr>
              <a:tr h="32251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0.368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0.470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0.600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31416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5F978FA-CB16-28DB-668B-4DEE08D70A4B}"/>
              </a:ext>
            </a:extLst>
          </p:cNvPr>
          <p:cNvSpPr txBox="1"/>
          <p:nvPr/>
        </p:nvSpPr>
        <p:spPr>
          <a:xfrm>
            <a:off x="8186105" y="466463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/>
              <a:t>AZ file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16743E-68C7-2737-DC7F-EE724DB6302E}"/>
              </a:ext>
            </a:extLst>
          </p:cNvPr>
          <p:cNvSpPr txBox="1"/>
          <p:nvPr/>
        </p:nvSpPr>
        <p:spPr>
          <a:xfrm>
            <a:off x="414883" y="5019135"/>
            <a:ext cx="4136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 data are excluding summer months, which is November–February for the Southern Hemisphere.</a:t>
            </a:r>
          </a:p>
        </p:txBody>
      </p:sp>
    </p:spTree>
    <p:extLst>
      <p:ext uri="{BB962C8B-B14F-4D97-AF65-F5344CB8AC3E}">
        <p14:creationId xmlns:p14="http://schemas.microsoft.com/office/powerpoint/2010/main" val="29797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92543C-C102-DE03-E2C1-75DFBC9B96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107731"/>
              </p:ext>
            </p:extLst>
          </p:nvPr>
        </p:nvGraphicFramePr>
        <p:xfrm>
          <a:off x="168349" y="3530009"/>
          <a:ext cx="6151288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822">
                  <a:extLst>
                    <a:ext uri="{9D8B030D-6E8A-4147-A177-3AD203B41FA5}">
                      <a16:colId xmlns:a16="http://schemas.microsoft.com/office/drawing/2014/main" val="3959849250"/>
                    </a:ext>
                  </a:extLst>
                </a:gridCol>
                <a:gridCol w="1537822">
                  <a:extLst>
                    <a:ext uri="{9D8B030D-6E8A-4147-A177-3AD203B41FA5}">
                      <a16:colId xmlns:a16="http://schemas.microsoft.com/office/drawing/2014/main" val="1678413133"/>
                    </a:ext>
                  </a:extLst>
                </a:gridCol>
                <a:gridCol w="1537822">
                  <a:extLst>
                    <a:ext uri="{9D8B030D-6E8A-4147-A177-3AD203B41FA5}">
                      <a16:colId xmlns:a16="http://schemas.microsoft.com/office/drawing/2014/main" val="519762489"/>
                    </a:ext>
                  </a:extLst>
                </a:gridCol>
                <a:gridCol w="1537822">
                  <a:extLst>
                    <a:ext uri="{9D8B030D-6E8A-4147-A177-3AD203B41FA5}">
                      <a16:colId xmlns:a16="http://schemas.microsoft.com/office/drawing/2014/main" val="1663892318"/>
                    </a:ext>
                  </a:extLst>
                </a:gridCol>
              </a:tblGrid>
              <a:tr h="25070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 (median)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281417"/>
                  </a:ext>
                </a:extLst>
              </a:tr>
              <a:tr h="250707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PWV(mm)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10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MERRA-2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0.448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05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0.368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0.470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0.600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31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936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E334C9-769B-28ED-216D-DB82060C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919003"/>
            <a:ext cx="8068801" cy="227679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4B836C3-8B63-66D6-B062-0F57E758D86F}"/>
              </a:ext>
            </a:extLst>
          </p:cNvPr>
          <p:cNvGrpSpPr/>
          <p:nvPr/>
        </p:nvGrpSpPr>
        <p:grpSpPr>
          <a:xfrm>
            <a:off x="2004441" y="3788196"/>
            <a:ext cx="8183117" cy="1238423"/>
            <a:chOff x="2132456" y="2809788"/>
            <a:chExt cx="8183117" cy="12384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4D614F-0A51-6960-1B0A-51DC7D582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2456" y="2809788"/>
              <a:ext cx="8183117" cy="123842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6F349-14D6-7BE0-D5C9-DC2759E5A32B}"/>
                </a:ext>
              </a:extLst>
            </p:cNvPr>
            <p:cNvSpPr txBox="1"/>
            <p:nvPr/>
          </p:nvSpPr>
          <p:spPr>
            <a:xfrm>
              <a:off x="4290728" y="3428999"/>
              <a:ext cx="1933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Improved </a:t>
              </a:r>
              <a:r>
                <a:rPr lang="en-US" dirty="0" err="1">
                  <a:solidFill>
                    <a:schemeClr val="bg1"/>
                  </a:solidFill>
                </a:rPr>
                <a:t>npy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9173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D0F4E1-DF83-8860-3478-1F19FEA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56" y="262113"/>
            <a:ext cx="8095488" cy="633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85D013-99C3-6572-EDF9-8B8F38451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611798"/>
            <a:ext cx="7089648" cy="563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41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FE24-C372-8551-037F-87D55837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89E0E-0D43-FB30-B490-9FEC7981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0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4911</TotalTime>
  <Words>380</Words>
  <Application>Microsoft Office PowerPoint</Application>
  <PresentationFormat>Widescreen</PresentationFormat>
  <Paragraphs>68</Paragraphs>
  <Slides>33</Slides>
  <Notes>0</Notes>
  <HiddenSlides>20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BG: what is input data</vt:lpstr>
      <vt:lpstr>What I used in data</vt:lpstr>
      <vt:lpstr>How avg</vt:lpstr>
      <vt:lpstr>PowerPoint Presentation</vt:lpstr>
      <vt:lpstr>PowerPoint Presentation</vt:lpstr>
      <vt:lpstr>What’s the different of am fitting file</vt:lpstr>
      <vt:lpstr>PowerPoint Presentation</vt:lpstr>
      <vt:lpstr>Output amc file</vt:lpstr>
      <vt:lpstr>Output amc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Regon Chen</dc:creator>
  <cp:lastModifiedBy>Regon Chen</cp:lastModifiedBy>
  <cp:revision>16</cp:revision>
  <dcterms:created xsi:type="dcterms:W3CDTF">2025-08-05T15:11:48Z</dcterms:created>
  <dcterms:modified xsi:type="dcterms:W3CDTF">2025-09-09T18:55:40Z</dcterms:modified>
</cp:coreProperties>
</file>