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6" r:id="rId2"/>
    <p:sldId id="277" r:id="rId3"/>
    <p:sldId id="257" r:id="rId4"/>
    <p:sldId id="274" r:id="rId5"/>
    <p:sldId id="275" r:id="rId6"/>
    <p:sldId id="262" r:id="rId7"/>
    <p:sldId id="258" r:id="rId8"/>
    <p:sldId id="263" r:id="rId9"/>
    <p:sldId id="260" r:id="rId10"/>
    <p:sldId id="261" r:id="rId11"/>
    <p:sldId id="269" r:id="rId12"/>
    <p:sldId id="271" r:id="rId13"/>
    <p:sldId id="272" r:id="rId14"/>
    <p:sldId id="278" r:id="rId15"/>
    <p:sldId id="279" r:id="rId16"/>
    <p:sldId id="267" r:id="rId17"/>
    <p:sldId id="280" r:id="rId18"/>
    <p:sldId id="281" r:id="rId19"/>
    <p:sldId id="282" r:id="rId20"/>
    <p:sldId id="291" r:id="rId21"/>
    <p:sldId id="292" r:id="rId22"/>
    <p:sldId id="293" r:id="rId23"/>
    <p:sldId id="294" r:id="rId24"/>
    <p:sldId id="296" r:id="rId25"/>
    <p:sldId id="295" r:id="rId26"/>
    <p:sldId id="297" r:id="rId27"/>
    <p:sldId id="298" r:id="rId28"/>
    <p:sldId id="299" r:id="rId29"/>
    <p:sldId id="300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3A27A2DE-D404-4E39-96F3-F8207532AED3}">
          <p14:sldIdLst>
            <p14:sldId id="276"/>
            <p14:sldId id="277"/>
            <p14:sldId id="257"/>
            <p14:sldId id="274"/>
            <p14:sldId id="275"/>
          </p14:sldIdLst>
        </p14:section>
        <p14:section name="Today" id="{D47115A2-1977-4F93-A927-B8DC1DA791B2}">
          <p14:sldIdLst>
            <p14:sldId id="262"/>
            <p14:sldId id="258"/>
            <p14:sldId id="263"/>
            <p14:sldId id="260"/>
            <p14:sldId id="261"/>
            <p14:sldId id="269"/>
            <p14:sldId id="271"/>
            <p14:sldId id="272"/>
            <p14:sldId id="278"/>
            <p14:sldId id="279"/>
            <p14:sldId id="267"/>
            <p14:sldId id="280"/>
            <p14:sldId id="281"/>
            <p14:sldId id="282"/>
          </p14:sldIdLst>
        </p14:section>
        <p14:section name="0814" id="{6456247A-DE7C-43D4-8E19-41186FEC560F}">
          <p14:sldIdLst>
            <p14:sldId id="291"/>
            <p14:sldId id="292"/>
            <p14:sldId id="293"/>
            <p14:sldId id="294"/>
            <p14:sldId id="296"/>
            <p14:sldId id="295"/>
            <p14:sldId id="297"/>
            <p14:sldId id="298"/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0" d="100"/>
          <a:sy n="60" d="100"/>
        </p:scale>
        <p:origin x="816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280" units="cm"/>
          <inkml:channel name="T" type="integer" max="2.14748E9" units="dev"/>
        </inkml:traceFormat>
        <inkml:channelProperties>
          <inkml:channelProperty channel="X" name="resolution" value="65.52901" units="1/cm"/>
          <inkml:channelProperty channel="Y" name="resolution" value="65.30612" units="1/cm"/>
          <inkml:channelProperty channel="T" name="resolution" value="1" units="1/dev"/>
        </inkml:channelProperties>
      </inkml:inkSource>
      <inkml:timestamp xml:id="ts0" timeString="2025-08-07T20:16:25.42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1023 3810 0,'0'0'0,"53"0"235,-35 0-235,17 0 15,53 0 1,-17-18 0,52 18-1,-88-17 1,1 17-16,17-18 0,17 18 15,1 0 1,-54 0 0,1 0-1,17-18-15,1 18 0,-1 0 16,53 0 0,-17 0-1,-54 0-15,36 0 0,-35 0 16,-1 0-1,19 0 1,-19 0 0,1 0-1,0 0 1,-1 0-16,1 0 16,0-17-16,17 17 15,0 0 1,0 0-1,18 0 1,-35 0 0,0 0 31,34 0-32,1 0 1,-35 0-1,35 0 17,-18 0-17,18 0 1,35 0 0,-52 0-1,17 0-15,-36 0 0,18 0 16,1 17-1,-19-17 1,19 0-16,-1 0 16,18 18 15,35-18-15,-70 0-16,-1 0 15,89 0 1,-53 0-1,35 0 1,-17 0 0,-18 0-1,0 18 1,17-18 0,-35 0-1,71 17 1,-70-17-1,-1 18 1,35 0 0,-34-18 15,-1 0-15,0 0-1,-17 0 1,35 17-1,-36-17-15,1 0 16,17 0 0,-17 0-16,35 0 15,35 0 1,-53 0 0,54 0-1,-54 0 1,53 0-16,-17 0 15,52 0 1,-52 0 15,-18 0-15,35 0 0,-71 0-16,36 0 15,35 0 1,-35 0-1,71 0 1,-54 0 0,19 0-1,-36 0-15,17 0 16,-17 0-16,35 0 16,0 0-1,-52 0-15,34 0 16,18 0-1,-52 0 1,-1 0-16,0 0 16,1 0-16,16 0 31,19 0-15,70 0-1,0 0 1,0 0-1,-123 0-15,53 18 16,34-18 0,-69 0-1,69 0 1,-69 0 0,-1 0-1,-17 0-15,70 0 16,-35 0-1,70 0 1,-52 0 0,-1 0-16,36 0 31,-35 0-15,123 0-1,-106 0 1,-53 0-1,1 0-15,34 0 16,-17 0 0,18 0-1,87 0 1,1-18 0,-18 1-1,-53 17-15,71 0 16,-88 0 15,-1 0-31,-17 0 0,124 0 31,-19 0-15,-34 0 0,70 17-1,-88-17 1,-36 0-1,-17 0-15,53 0 16,0 0 0,0 0-1,17 0 1,-52 0 0,34 0-1,-69-17-15,70-1 16,35 18-1,-18 0 1,36-18 0,-89 18 15,36 0-15,-70 0-16,-1 0 0,35 0 15,1 0-15,-36 0 16,89 0-1,-36 0-15,-18 0 0,19 0 16,105 0 0,0 18-1,-88-18-15,-36 0 16,18 0-16,-35 18 16,71-18-1,-1 0-15,18 17 16,36 18-1,-54 1 1,36-19 0,-106 1 15,17 17-15,-17-17-1,0-18 1,-35 0-16,105 18 31,-52-1-15,35-17-1,-18 18 1,-18-18 0,19 0-1,-19 17 1,1-17-1,35 0 1,70 0 15,-105 18-15,17-18 0,-35 0-1,17 0 1,18 0-1,89 0 1,-54 0 0,71 0-1,-88 0 1,-88 0 0,17 0-1,18 0 1,-18 0-1,36 0 17,-18 0-32,-18 0 15,0 0 1,106 0 0,-105 0-16,-19 0 31,1 0-16,0 0 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6:54:06.9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24575,'84'1'0,"92"14"0,106-2 0,-35-5 0,694 59 0,-437-63 0,-273-6 0,-52 0 0,211 5 0,-222 8 0,26 1 0,746-7 0,-520-7 0,1966 2-1365,-2347 0-5461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6:54:11.4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9:20:59.4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24221,'1770'128'0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6:54:11.4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7:54:53.5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1 180 24575,'2306'0'-2466,"-2074"-12"-2726,-115-2 6657,-2-6 3598,222-30-3761,1 23-1269,-10 1-238,-243 16 205,113-7 0,575 14 0,-401 5 0,-140 11 0,-129-4 0,273-5 0,-217-6 0,64 2-19,692 2-311,2 21 78,150 4-2184,4-26-1217,-593-2 3071,-130 19 582,-183-5 0,502 6 6423,-486-16-5574,138 9-849,110 0 0,-33-13-1365,-351 1-5461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7:54:59.3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23892,'8839'52'0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7C77B-551C-6FC0-7BFB-6C21799D2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2A5CAB-50F6-C86C-07EA-4CF3B8D656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76E94-C4DC-443A-53D4-96B945DC9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8/14/2025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38317-AED5-FC1B-FC8D-C20CDDB01C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47446D-C402-A83A-A624-C98733D99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1088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3C852-C056-9C10-3301-D6475E3B5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F13CD-109E-5E6A-337D-B222D09573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C1D0D-4AE9-F3E6-42EE-7F3A8380F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8/14/2025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4F572-E25E-7B2B-6CDE-D25A81CA8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B975BA-180D-24CB-7DEB-92E8134B9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4099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F07D9-00FA-2078-5105-A31C914E8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66EE5F-7F35-0C06-BB7F-9DEB21F142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D812C-44DA-CCEA-D2F7-667D097D9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8/14/2025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DCBE37-2F5E-8132-0A04-09F0C1C5C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B50A1-0966-F594-5FE8-6B09A14BF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0416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A11E9-3570-5ACD-9FB1-0D74EDDCF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789C7-7C5F-38C7-F2E5-608421579D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2B51D6-4408-49B7-D67C-86274E8E2B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D89FB-A484-7C13-420A-E5A2763E4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8/14/2025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DF488E-4A1B-B28E-E027-15A7B1469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940D51-0B49-9ACA-C99B-3BA8192E7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6806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E672C-76A3-B2A7-42E0-315AA2D69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335413-87F4-5600-5D9D-7D41473DBF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6F9CB5-9621-215A-7760-18C45C7A51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EA9300-8270-CF2E-A9E5-1F018E9BAF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C57A68-4DEC-A8A5-4E8C-6E6A1F3DF7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F666A0-3762-8365-E99F-A90FFD8431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8/14/2025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3886ED-C866-E803-1DE9-53BFA53B7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72E5B7-1FC4-7FAD-FC9D-674C06111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81057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781CB-E5B4-6156-5279-1718561D0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15E0C0-648B-186A-FF4E-49ABB6A78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8/14/2025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010261-667F-D133-9A75-ADA981E6B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98A962-1E61-9969-A373-138E72320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8769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59A3DA-5ED4-1C79-7B76-8F421C43BD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8/14/2025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AFE423-FAEF-2909-3A16-DFF5818DF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D9C545-1FE7-2B33-498B-BCB22033C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1941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E74BC-25B4-98E3-BB33-194CC9B173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5D2F3-430E-91FE-29C5-6AFBAD8310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E58E40-5A7F-62F8-ADCE-2D8B444B32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2BBAE4-925C-6F4B-8F1B-5AA158696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8/14/2025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CFA95C-52F7-0A5A-4691-58E56C4E0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C7C1EF-14F2-2354-92FC-D4D167C57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8316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4FC11-C6B2-A69C-5F15-014D66FC0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D693CA-B5E3-2B1F-2420-49074E30BA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B9DEA1-915C-8563-DDBC-9B8C9E3FA0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4BB3D6-DCB8-DD1A-2359-9D8A3857D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8/14/2025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375D41-8F97-0EA0-568B-DA1DF136A6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2DA975-2125-2471-2D66-02954B4EC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9087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28229-C74D-1F82-7AB6-A71F367B2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640DDB-89FD-3D60-0418-7D09BB6EC6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B5E41-76AD-8047-8826-97F8CC07D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8/14/2025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6FB61-C6CD-5262-384A-32B3AC2A3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533773-2655-267B-3EB0-A5DE560DE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69395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516814-4F77-EF54-96BE-11A0AD3FA4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D5EF2C-40B8-9D9A-A47E-3CAC8A3EEF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4B1353-037E-ABDD-53FE-5789E54FC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8/14/2025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2E6195-F03C-83B6-514B-A46A99409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067CD9-742D-8694-53ED-2E3BC3005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13546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D5B2FB-B840-1514-662C-7B8693538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41B24A-372F-F47D-FC03-EA625B3609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272559-8402-3E5D-C333-DA2E299B41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1665DE-610D-4530-B0E8-1E86B60EE432}" type="datetimeFigureOut">
              <a:rPr lang="en-US" smtClean="0"/>
              <a:t>8/14/2025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75BB1-7006-9255-06DF-E256CDA795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1C22F3-816B-676B-BF81-30EA23A017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2822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customXml" Target="../ink/ink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3" Type="http://schemas.openxmlformats.org/officeDocument/2006/relationships/customXml" Target="../ink/ink2.xml"/><Relationship Id="rId7" Type="http://schemas.openxmlformats.org/officeDocument/2006/relationships/customXml" Target="../ink/ink4.xm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customXml" Target="../ink/ink3.xml"/><Relationship Id="rId4" Type="http://schemas.openxmlformats.org/officeDocument/2006/relationships/image" Target="../media/image12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customXml" Target="../ink/ink7.xml"/><Relationship Id="rId3" Type="http://schemas.openxmlformats.org/officeDocument/2006/relationships/image" Target="../media/image130.png"/><Relationship Id="rId7" Type="http://schemas.openxmlformats.org/officeDocument/2006/relationships/image" Target="../media/image160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6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17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sv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51151B1-963A-48D1-8703-9ED36F1E0F3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2979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57051-F089-98C3-DCDD-1F5E10B86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7970"/>
            <a:ext cx="10515600" cy="1325563"/>
          </a:xfrm>
        </p:spPr>
        <p:txBody>
          <a:bodyPr/>
          <a:lstStyle/>
          <a:p>
            <a:r>
              <a:rPr lang="en-US" dirty="0"/>
              <a:t>BG: what is input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2B8B49-EECB-7004-AF84-A24DFFFD7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1 plots Az vs time + temps vs time  over 5 min  for few + </a:t>
            </a:r>
            <a:r>
              <a:rPr lang="en-US" dirty="0" err="1"/>
              <a:t>elvation</a:t>
            </a:r>
            <a:r>
              <a:rPr lang="en-US" dirty="0"/>
              <a:t>  </a:t>
            </a:r>
          </a:p>
          <a:p>
            <a:pPr marL="0" indent="0">
              <a:buNone/>
            </a:pPr>
            <a:r>
              <a:rPr lang="en-US" dirty="0"/>
              <a:t>2 for one Az file (scatter)</a:t>
            </a:r>
          </a:p>
          <a:p>
            <a:pPr marL="0" indent="0">
              <a:buNone/>
            </a:pPr>
            <a:r>
              <a:rPr lang="en-US" dirty="0"/>
              <a:t>3 record </a:t>
            </a:r>
            <a:r>
              <a:rPr lang="en-US" dirty="0" err="1"/>
              <a:t>miden</a:t>
            </a:r>
            <a:r>
              <a:rPr lang="en-US" dirty="0"/>
              <a:t> </a:t>
            </a:r>
            <a:r>
              <a:rPr lang="en-US" dirty="0" err="1"/>
              <a:t>aveg</a:t>
            </a:r>
            <a:r>
              <a:rPr lang="en-US" dirty="0"/>
              <a:t> max min std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4(further) overview slides </a:t>
            </a:r>
          </a:p>
          <a:p>
            <a:pPr marL="514350" indent="-514350">
              <a:buAutoNum type="arabicPlain" startAt="3"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3E32FBA-019B-1571-CCED-31A6317C1EE0}"/>
              </a:ext>
            </a:extLst>
          </p:cNvPr>
          <p:cNvSpPr txBox="1">
            <a:spLocks/>
          </p:cNvSpPr>
          <p:nvPr/>
        </p:nvSpPr>
        <p:spPr>
          <a:xfrm>
            <a:off x="1958340" y="2269809"/>
            <a:ext cx="6576060" cy="457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2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how line of sight to zenith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9572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56" descr="Diagram of a diagram of a slope&#10;&#10;AI-generated content may be incorrect.">
            <a:extLst>
              <a:ext uri="{FF2B5EF4-FFF2-40B4-BE49-F238E27FC236}">
                <a16:creationId xmlns:a16="http://schemas.microsoft.com/office/drawing/2014/main" id="{42DAAB27-0A38-D061-6D76-4426721EC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9200" y="2709947"/>
            <a:ext cx="5895213" cy="41335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0907F7-AEFF-FB05-E679-83F424333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 used in data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D3A76B-5F0D-0D88-2A56-9C0AD1890B7D}"/>
              </a:ext>
            </a:extLst>
          </p:cNvPr>
          <p:cNvSpPr txBox="1"/>
          <p:nvPr/>
        </p:nvSpPr>
        <p:spPr>
          <a:xfrm>
            <a:off x="838200" y="2478083"/>
            <a:ext cx="57729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</a:t>
            </a:r>
          </a:p>
          <a:p>
            <a:r>
              <a:rPr lang="en-US" dirty="0"/>
              <a:t>TSRC0 TSRC1 TSRC2 TSRC3 : the observing temperature </a:t>
            </a:r>
          </a:p>
          <a:p>
            <a:r>
              <a:rPr lang="en-US" dirty="0"/>
              <a:t>EL </a:t>
            </a:r>
          </a:p>
          <a:p>
            <a:r>
              <a:rPr lang="en-US" dirty="0"/>
              <a:t>AZ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E34FB4-BAD2-8F79-8931-F8CCCE6A3966}"/>
              </a:ext>
            </a:extLst>
          </p:cNvPr>
          <p:cNvSpPr txBox="1"/>
          <p:nvPr/>
        </p:nvSpPr>
        <p:spPr>
          <a:xfrm>
            <a:off x="838200" y="1622720"/>
            <a:ext cx="8652818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highlight>
                  <a:srgbClr val="000000"/>
                </a:highlight>
              </a:rPr>
              <a:t>TIME …… TSRC0 TSRC1 TSRC2 TSRC3 EL AZ</a:t>
            </a:r>
          </a:p>
          <a:p>
            <a:r>
              <a:rPr lang="en-US" sz="1400" b="1" dirty="0">
                <a:solidFill>
                  <a:schemeClr val="bg1"/>
                </a:solidFill>
                <a:highlight>
                  <a:srgbClr val="000000"/>
                </a:highlight>
              </a:rPr>
              <a:t>2024-06-12T19:01:36.642127 …… 64.9747390747 34.9560852051 21.7463874817 16.6668453217 55.0 2.625</a:t>
            </a:r>
          </a:p>
        </p:txBody>
      </p:sp>
    </p:spTree>
    <p:extLst>
      <p:ext uri="{BB962C8B-B14F-4D97-AF65-F5344CB8AC3E}">
        <p14:creationId xmlns:p14="http://schemas.microsoft.com/office/powerpoint/2010/main" val="14451326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D7BB8-5044-7AFE-5C86-54D8CAE57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avg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4CD369-9A6B-7D5E-3F16-8031223AF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B1D730-0653-5A44-F82A-06DD7C228D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225" y="1413710"/>
            <a:ext cx="11067550" cy="53660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91969D9-3010-652F-261F-D128108144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3938" y="148647"/>
            <a:ext cx="5506218" cy="2305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8183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3FED9-609E-F0C2-4B37-1CD1A2EA8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D3707-0B08-3AE3-1EB8-0DEDDE104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102D8D-33EF-EAEA-0583-BA7DA1745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5132"/>
            <a:ext cx="12192000" cy="5547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380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blue and white text&#10;&#10;AI-generated content may be incorrect.">
            <a:extLst>
              <a:ext uri="{FF2B5EF4-FFF2-40B4-BE49-F238E27FC236}">
                <a16:creationId xmlns:a16="http://schemas.microsoft.com/office/drawing/2014/main" id="{6EB1CB07-4FD4-A0C2-3336-71A1D23C2C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16" t="48702" r="22797"/>
          <a:stretch>
            <a:fillRect/>
          </a:stretch>
        </p:blipFill>
        <p:spPr>
          <a:xfrm>
            <a:off x="269506" y="1039527"/>
            <a:ext cx="5707782" cy="70564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AFC5FC2-9941-2E65-1DE0-31041B015040}"/>
              </a:ext>
            </a:extLst>
          </p:cNvPr>
          <p:cNvSpPr txBox="1"/>
          <p:nvPr/>
        </p:nvSpPr>
        <p:spPr>
          <a:xfrm>
            <a:off x="173254" y="192505"/>
            <a:ext cx="2293064" cy="7056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4400"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am fitting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F0DFE5-A6DC-DE55-E727-98D622B101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506" y="2204183"/>
            <a:ext cx="8564170" cy="228631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44E12F6-1DC6-57D8-8E13-F59581811CF3}"/>
              </a:ext>
            </a:extLst>
          </p:cNvPr>
          <p:cNvSpPr txBox="1"/>
          <p:nvPr/>
        </p:nvSpPr>
        <p:spPr>
          <a:xfrm>
            <a:off x="6096000" y="975728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/>
              <a:t>=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CF37B7-A53B-2D02-0F99-150B3529D79C}"/>
              </a:ext>
            </a:extLst>
          </p:cNvPr>
          <p:cNvSpPr txBox="1"/>
          <p:nvPr/>
        </p:nvSpPr>
        <p:spPr>
          <a:xfrm>
            <a:off x="269506" y="4775580"/>
            <a:ext cx="1091360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latin typeface="Arial" panose="020B0604020202020204" pitchFamily="34" charset="0"/>
              </a:rPr>
              <a:t>The first warning seems to happen mostly in the mesosphere and stratosphere, rather than in the troposphere. Therefore, the </a:t>
            </a:r>
            <a:r>
              <a:rPr lang="en-US" altLang="en-US" sz="2400" dirty="0" err="1">
                <a:latin typeface="Arial" panose="020B0604020202020204" pitchFamily="34" charset="0"/>
              </a:rPr>
              <a:t>pwv</a:t>
            </a:r>
            <a:r>
              <a:rPr lang="en-US" altLang="en-US" sz="2400" dirty="0">
                <a:latin typeface="Arial" panose="020B0604020202020204" pitchFamily="34" charset="0"/>
              </a:rPr>
              <a:t> should have a very low influence.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latin typeface="Arial" panose="020B0604020202020204" pitchFamily="34" charset="0"/>
              </a:rPr>
              <a:t>The second warning is about the output tau, which we did use.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A0D1CA49-B4FE-8A01-AF1D-D2E10A2490BC}"/>
                  </a:ext>
                </a:extLst>
              </p14:cNvPr>
              <p14:cNvContentPartPr/>
              <p14:nvPr/>
            </p14:nvContentPartPr>
            <p14:xfrm>
              <a:off x="368280" y="1339920"/>
              <a:ext cx="5531400" cy="133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A0D1CA49-B4FE-8A01-AF1D-D2E10A2490B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58920" y="1330560"/>
                <a:ext cx="5550120" cy="152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374697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380FA-537A-8AB3-577D-A17CDEB78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60517"/>
            <a:ext cx="10515600" cy="1325563"/>
          </a:xfrm>
        </p:spPr>
        <p:txBody>
          <a:bodyPr/>
          <a:lstStyle/>
          <a:p>
            <a:r>
              <a:rPr lang="en-US" dirty="0"/>
              <a:t>What’s the different of am fitting file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B846278-C645-4232-AD32-6E724E95E6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" t="35001" r="55252" b="7608"/>
          <a:stretch>
            <a:fillRect/>
          </a:stretch>
        </p:blipFill>
        <p:spPr>
          <a:xfrm>
            <a:off x="202130" y="1491916"/>
            <a:ext cx="5893869" cy="4193781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B0F3FFD-9827-E3A1-898C-6E19E06ED1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835" r="43072" b="7142"/>
          <a:stretch>
            <a:fillRect/>
          </a:stretch>
        </p:blipFill>
        <p:spPr>
          <a:xfrm>
            <a:off x="6319499" y="1491916"/>
            <a:ext cx="5679996" cy="419378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D05502C-906D-E43D-5E3B-BFA0736E8279}"/>
              </a:ext>
            </a:extLst>
          </p:cNvPr>
          <p:cNvSpPr txBox="1"/>
          <p:nvPr/>
        </p:nvSpPr>
        <p:spPr>
          <a:xfrm>
            <a:off x="845820" y="5685697"/>
            <a:ext cx="21367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From am Cookbook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484451-494B-1FD8-8202-BB9FBAD77D8F}"/>
              </a:ext>
            </a:extLst>
          </p:cNvPr>
          <p:cNvSpPr txBox="1"/>
          <p:nvPr/>
        </p:nvSpPr>
        <p:spPr>
          <a:xfrm>
            <a:off x="6812280" y="5636517"/>
            <a:ext cx="61569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Sofia’s code GitHub:</a:t>
            </a:r>
          </a:p>
          <a:p>
            <a:r>
              <a:rPr lang="en-US" dirty="0"/>
              <a:t>WVR-pipeline/ Templates/SPole_annual_50.amc</a:t>
            </a:r>
          </a:p>
        </p:txBody>
      </p:sp>
    </p:spTree>
    <p:extLst>
      <p:ext uri="{BB962C8B-B14F-4D97-AF65-F5344CB8AC3E}">
        <p14:creationId xmlns:p14="http://schemas.microsoft.com/office/powerpoint/2010/main" val="2549021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CA2523-5D32-9B6E-0CE8-2B0CF77BE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63595D-BB6F-02D8-8D0E-8ABAC6FBCE4A}"/>
              </a:ext>
            </a:extLst>
          </p:cNvPr>
          <p:cNvSpPr txBox="1"/>
          <p:nvPr/>
        </p:nvSpPr>
        <p:spPr>
          <a:xfrm>
            <a:off x="173254" y="192505"/>
            <a:ext cx="2293064" cy="7056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4400"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am fitting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E26C7D7-AAE3-254A-4799-3EE85BEEF4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6040" y="2057685"/>
            <a:ext cx="7978321" cy="98840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F5CB9E2B-7275-90F3-10B2-998DC0F88508}"/>
              </a:ext>
            </a:extLst>
          </p:cNvPr>
          <p:cNvGrpSpPr/>
          <p:nvPr/>
        </p:nvGrpSpPr>
        <p:grpSpPr>
          <a:xfrm>
            <a:off x="3421673" y="3557888"/>
            <a:ext cx="8501773" cy="543857"/>
            <a:chOff x="2644763" y="3900988"/>
            <a:chExt cx="8501773" cy="543857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9FF09BE9-9D1E-F5F3-A9B2-0B214D549D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44763" y="3900988"/>
              <a:ext cx="8501773" cy="543857"/>
            </a:xfrm>
            <a:prstGeom prst="rect">
              <a:avLst/>
            </a:prstGeom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8660B43-A5F2-C9A9-6795-6F08541F5FE8}"/>
                </a:ext>
              </a:extLst>
            </p:cNvPr>
            <p:cNvSpPr/>
            <p:nvPr/>
          </p:nvSpPr>
          <p:spPr>
            <a:xfrm>
              <a:off x="9006840" y="4160520"/>
              <a:ext cx="2139696" cy="28432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91725F19-EDB2-AF8B-7821-E9B61169D865}"/>
              </a:ext>
            </a:extLst>
          </p:cNvPr>
          <p:cNvSpPr txBox="1"/>
          <p:nvPr/>
        </p:nvSpPr>
        <p:spPr>
          <a:xfrm>
            <a:off x="3516973" y="4101745"/>
            <a:ext cx="850177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</a:t>
            </a:r>
            <a:r>
              <a:rPr lang="en-US" dirty="0" err="1"/>
              <a:t>amc</a:t>
            </a:r>
            <a:r>
              <a:rPr lang="en-US" dirty="0"/>
              <a:t>, we expect the </a:t>
            </a:r>
            <a:r>
              <a:rPr lang="en-US" dirty="0" err="1"/>
              <a:t>dat</a:t>
            </a:r>
            <a:r>
              <a:rPr lang="en-US" dirty="0"/>
              <a:t> file as</a:t>
            </a:r>
          </a:p>
          <a:p>
            <a:r>
              <a:rPr lang="en-US" dirty="0"/>
              <a:t>	 frequence(</a:t>
            </a:r>
            <a:r>
              <a:rPr lang="en-US" dirty="0" err="1"/>
              <a:t>v_i</a:t>
            </a:r>
            <a:r>
              <a:rPr lang="en-US" dirty="0"/>
              <a:t>) 	</a:t>
            </a:r>
            <a:r>
              <a:rPr lang="en-US" dirty="0" err="1"/>
              <a:t>bandwith</a:t>
            </a:r>
            <a:r>
              <a:rPr lang="en-US" dirty="0"/>
              <a:t>(</a:t>
            </a:r>
            <a:r>
              <a:rPr lang="en-US" dirty="0" err="1"/>
              <a:t>b_i</a:t>
            </a:r>
            <a:r>
              <a:rPr lang="en-US" dirty="0"/>
              <a:t>)  	spectral data (</a:t>
            </a:r>
            <a:r>
              <a:rPr lang="en-US" dirty="0" err="1"/>
              <a:t>s_i</a:t>
            </a:r>
            <a:r>
              <a:rPr lang="en-US" dirty="0"/>
              <a:t>)</a:t>
            </a:r>
          </a:p>
          <a:p>
            <a:r>
              <a:rPr lang="en-US" dirty="0"/>
              <a:t>So, the </a:t>
            </a:r>
            <a:r>
              <a:rPr lang="en-US" dirty="0" err="1"/>
              <a:t>dat</a:t>
            </a:r>
            <a:r>
              <a:rPr lang="en-US" dirty="0"/>
              <a:t> is means:</a:t>
            </a:r>
          </a:p>
          <a:p>
            <a:r>
              <a:rPr lang="en-US" dirty="0"/>
              <a:t>	observing 184.55(183.3 + 1.25)  GHz, the bandwidth is 1.50 GHz, spectral data is the observing temperature </a:t>
            </a:r>
          </a:p>
          <a:p>
            <a:endParaRPr lang="en-US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8A343FB-936E-2D97-F687-96C21E34F1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6040" y="3082304"/>
            <a:ext cx="5109124" cy="47558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11525A4-61E9-BC98-9A8B-05E443962B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6040" y="324505"/>
            <a:ext cx="7833359" cy="166761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1342654-F483-2802-D5EB-945D0DCC21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25" y="3587953"/>
            <a:ext cx="3379148" cy="254660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01C7DFD-F0E9-A185-4141-DDC1AE4C5EA8}"/>
              </a:ext>
            </a:extLst>
          </p:cNvPr>
          <p:cNvSpPr txBox="1"/>
          <p:nvPr/>
        </p:nvSpPr>
        <p:spPr>
          <a:xfrm>
            <a:off x="173254" y="6111497"/>
            <a:ext cx="504797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From B.Nikolicetal.:PhasecorrectionforALMAwith183GHzwatervapourradiometers, 2013</a:t>
            </a:r>
          </a:p>
        </p:txBody>
      </p:sp>
    </p:spTree>
    <p:extLst>
      <p:ext uri="{BB962C8B-B14F-4D97-AF65-F5344CB8AC3E}">
        <p14:creationId xmlns:p14="http://schemas.microsoft.com/office/powerpoint/2010/main" val="3627724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5171B-69DA-55D5-4F3D-7E192123E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 </a:t>
            </a:r>
            <a:r>
              <a:rPr lang="en-US" dirty="0" err="1"/>
              <a:t>amc</a:t>
            </a:r>
            <a:r>
              <a:rPr lang="en-US" dirty="0"/>
              <a:t>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9FF148-F399-7F4B-E940-5C1FDAE216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ACF5D0-3823-187A-ACFF-D1D7E3EEC8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765" y="78882"/>
            <a:ext cx="6513225" cy="666099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372399EB-2705-52BB-4D23-D56054595D9A}"/>
                  </a:ext>
                </a:extLst>
              </p14:cNvPr>
              <p14:cNvContentPartPr/>
              <p14:nvPr/>
            </p14:nvContentPartPr>
            <p14:xfrm>
              <a:off x="5948242" y="2492716"/>
              <a:ext cx="2585520" cy="489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372399EB-2705-52BB-4D23-D56054595D9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939602" y="2484076"/>
                <a:ext cx="2603160" cy="6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3F16A474-8ADC-C31D-C06B-3A952F2793AC}"/>
                  </a:ext>
                </a:extLst>
              </p14:cNvPr>
              <p14:cNvContentPartPr/>
              <p14:nvPr/>
            </p14:nvContentPartPr>
            <p14:xfrm>
              <a:off x="-260678" y="2300116"/>
              <a:ext cx="360" cy="3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3F16A474-8ADC-C31D-C06B-3A952F2793A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269318" y="2291476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27660623-556C-07A0-83FA-A8DB0AC9BC1C}"/>
                  </a:ext>
                </a:extLst>
              </p14:cNvPr>
              <p14:cNvContentPartPr/>
              <p14:nvPr/>
            </p14:nvContentPartPr>
            <p14:xfrm>
              <a:off x="7887665" y="2179753"/>
              <a:ext cx="637560" cy="464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27660623-556C-07A0-83FA-A8DB0AC9BC1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878665" y="2170753"/>
                <a:ext cx="655200" cy="64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669784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99182AA-E03F-1874-29C3-07E20A102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BFE40-4532-F02C-135E-5E6480CB9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 </a:t>
            </a:r>
            <a:r>
              <a:rPr lang="en-US" dirty="0" err="1"/>
              <a:t>amc</a:t>
            </a:r>
            <a:r>
              <a:rPr lang="en-US" dirty="0"/>
              <a:t> file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C8090EB6-5EEA-DD31-311E-0CE7C88343AA}"/>
                  </a:ext>
                </a:extLst>
              </p14:cNvPr>
              <p14:cNvContentPartPr/>
              <p14:nvPr/>
            </p14:nvContentPartPr>
            <p14:xfrm>
              <a:off x="-260678" y="2300116"/>
              <a:ext cx="360" cy="3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C8090EB6-5EEA-DD31-311E-0CE7C88343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269678" y="2291116"/>
                <a:ext cx="18000" cy="18000"/>
              </a:xfrm>
              <a:prstGeom prst="rect">
                <a:avLst/>
              </a:prstGeom>
            </p:spPr>
          </p:pic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7395313C-5ACE-5B48-4D91-A4A0BB29C2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935" y="1761101"/>
            <a:ext cx="5372850" cy="190526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A904072-CC36-01BA-75F5-6551D45116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3245" y="73585"/>
            <a:ext cx="6266404" cy="671083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18653EA8-ED21-BBD7-2867-725A0FFAC0E7}"/>
                  </a:ext>
                </a:extLst>
              </p14:cNvPr>
              <p14:cNvContentPartPr/>
              <p14:nvPr/>
            </p14:nvContentPartPr>
            <p14:xfrm>
              <a:off x="484416" y="2998296"/>
              <a:ext cx="4785480" cy="648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18653EA8-ED21-BBD7-2867-725A0FFAC0E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75776" y="2989656"/>
                <a:ext cx="4803120" cy="8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BB04668D-08C1-955E-33E1-54C7E2A7B6F1}"/>
                  </a:ext>
                </a:extLst>
              </p14:cNvPr>
              <p14:cNvContentPartPr/>
              <p14:nvPr/>
            </p14:nvContentPartPr>
            <p14:xfrm>
              <a:off x="8649936" y="6071256"/>
              <a:ext cx="3182400" cy="190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BB04668D-08C1-955E-33E1-54C7E2A7B6F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640936" y="6062256"/>
                <a:ext cx="3200040" cy="36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613286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EC0D52C-6D78-193D-6237-B7E4284A6756}"/>
              </a:ext>
            </a:extLst>
          </p:cNvPr>
          <p:cNvSpPr txBox="1"/>
          <p:nvPr/>
        </p:nvSpPr>
        <p:spPr>
          <a:xfrm>
            <a:off x="-15188" y="58092"/>
            <a:ext cx="123383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Compare Data </a:t>
            </a:r>
            <a:r>
              <a:rPr lang="en-US" sz="2000" b="1" i="1" dirty="0"/>
              <a:t>20250101 010136.531267 to 011150.083026  </a:t>
            </a:r>
            <a:r>
              <a:rPr lang="en-US" sz="2000" b="1" dirty="0"/>
              <a:t>and</a:t>
            </a:r>
            <a:r>
              <a:rPr lang="en-US" sz="2000" b="1" i="1" dirty="0"/>
              <a:t> 20250101 011151.039968 to 012204.487716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4757F24-9662-955A-6D43-F73C57EE0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806" y="503198"/>
            <a:ext cx="9575594" cy="145258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1BDF3A-4253-12FC-BF34-582DD41862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74"/>
          <a:stretch>
            <a:fillRect/>
          </a:stretch>
        </p:blipFill>
        <p:spPr>
          <a:xfrm>
            <a:off x="978106" y="2354062"/>
            <a:ext cx="10496598" cy="387932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A4A171E-427C-F9C5-9544-57B5B15132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106" y="6390363"/>
            <a:ext cx="10800000" cy="26835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CAE33BE-0DE2-C63E-E39A-403D349A35A9}"/>
              </a:ext>
            </a:extLst>
          </p:cNvPr>
          <p:cNvSpPr txBox="1"/>
          <p:nvPr/>
        </p:nvSpPr>
        <p:spPr>
          <a:xfrm>
            <a:off x="138251" y="1954868"/>
            <a:ext cx="3138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The output </a:t>
            </a:r>
            <a:r>
              <a:rPr lang="en-US" sz="2000" b="1" dirty="0" err="1"/>
              <a:t>amc</a:t>
            </a:r>
            <a:r>
              <a:rPr lang="en-US" sz="2000" b="1" dirty="0"/>
              <a:t> different:</a:t>
            </a:r>
          </a:p>
        </p:txBody>
      </p:sp>
    </p:spTree>
    <p:extLst>
      <p:ext uri="{BB962C8B-B14F-4D97-AF65-F5344CB8AC3E}">
        <p14:creationId xmlns:p14="http://schemas.microsoft.com/office/powerpoint/2010/main" val="33262190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AEBDA7-E91A-46FF-0A5B-8CBC728978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434756"/>
            <a:ext cx="11811000" cy="5988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1018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E257E34-4AA2-1A98-61D1-0868346C8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00" y="810075"/>
            <a:ext cx="11861800" cy="5237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648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aph with red lines&#10;&#10;AI-generated content may be incorrect.">
            <a:extLst>
              <a:ext uri="{FF2B5EF4-FFF2-40B4-BE49-F238E27FC236}">
                <a16:creationId xmlns:a16="http://schemas.microsoft.com/office/drawing/2014/main" id="{4A60B9C4-644A-DCD3-011E-B536297A22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5064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9CE485C-B7B4-5679-B21F-F9B5D26C8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642FD-CD1C-FE56-8F8C-85A63867F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3BADD-6FE2-1DC9-A919-48DB0245A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BAE685-1E38-8F35-3150-7608CDC57F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810"/>
          <a:stretch>
            <a:fillRect/>
          </a:stretch>
        </p:blipFill>
        <p:spPr>
          <a:xfrm>
            <a:off x="91440" y="0"/>
            <a:ext cx="11521439" cy="654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4942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graph with a blue line&#10;&#10;AI-generated content may be incorrect.">
            <a:extLst>
              <a:ext uri="{FF2B5EF4-FFF2-40B4-BE49-F238E27FC236}">
                <a16:creationId xmlns:a16="http://schemas.microsoft.com/office/drawing/2014/main" id="{59757404-A945-B2FF-6C8D-EF85195E85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30" t="7084" b="6458"/>
          <a:stretch>
            <a:fillRect/>
          </a:stretch>
        </p:blipFill>
        <p:spPr>
          <a:xfrm>
            <a:off x="160626" y="116840"/>
            <a:ext cx="12951931" cy="6101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322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C9B05-ED44-1187-A08A-2030AE49D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80B752-232D-B027-22ED-1EC1E2399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279A19-76F9-72BE-4060-302405F94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687" y="0"/>
            <a:ext cx="8556625" cy="6614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0386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EE3EB9C-7245-1624-389F-279640F901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3425" y="144845"/>
            <a:ext cx="8185150" cy="6284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3290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02ACA3-CFF0-7860-DA1F-2AFA91102D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437" y="362274"/>
            <a:ext cx="7731126" cy="6133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7100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E42815-AF27-BC4D-F609-FBF5C09B7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blue lines on a white background&#10;&#10;AI-generated content may be incorrect.">
            <a:extLst>
              <a:ext uri="{FF2B5EF4-FFF2-40B4-BE49-F238E27FC236}">
                <a16:creationId xmlns:a16="http://schemas.microsoft.com/office/drawing/2014/main" id="{1754DEF7-6DF3-8134-595B-68D0427699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04772" y="-1"/>
            <a:ext cx="13324114" cy="6662057"/>
          </a:xfrm>
        </p:spPr>
      </p:pic>
    </p:spTree>
    <p:extLst>
      <p:ext uri="{BB962C8B-B14F-4D97-AF65-F5344CB8AC3E}">
        <p14:creationId xmlns:p14="http://schemas.microsoft.com/office/powerpoint/2010/main" val="37435808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31670-3B29-21B2-E82A-981824DD5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93613-D407-2F04-34B3-2A34093EF6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graph of a graph&#10;&#10;AI-generated content may be incorrect.">
            <a:extLst>
              <a:ext uri="{FF2B5EF4-FFF2-40B4-BE49-F238E27FC236}">
                <a16:creationId xmlns:a16="http://schemas.microsoft.com/office/drawing/2014/main" id="{789DAC61-6594-8909-6585-1B08B41F75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9386" y="0"/>
            <a:ext cx="13716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7283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833C5-1E8F-6004-D91C-4246224AB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aph with orange lines&#10;&#10;AI-generated content may be incorrect.">
            <a:extLst>
              <a:ext uri="{FF2B5EF4-FFF2-40B4-BE49-F238E27FC236}">
                <a16:creationId xmlns:a16="http://schemas.microsoft.com/office/drawing/2014/main" id="{C087FFF8-DB0B-A093-C08F-16A0C231C6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28522" y="56408"/>
            <a:ext cx="13490368" cy="6745184"/>
          </a:xfrm>
        </p:spPr>
      </p:pic>
    </p:spTree>
    <p:extLst>
      <p:ext uri="{BB962C8B-B14F-4D97-AF65-F5344CB8AC3E}">
        <p14:creationId xmlns:p14="http://schemas.microsoft.com/office/powerpoint/2010/main" val="2043288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0027E-178C-5586-976F-0F8F6C88F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aph of a graph&#10;&#10;AI-generated content may be incorrect.">
            <a:extLst>
              <a:ext uri="{FF2B5EF4-FFF2-40B4-BE49-F238E27FC236}">
                <a16:creationId xmlns:a16="http://schemas.microsoft.com/office/drawing/2014/main" id="{15623578-32D2-49D2-FACB-AF67973CAA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54182" y="103909"/>
            <a:ext cx="13300364" cy="6650182"/>
          </a:xfrm>
        </p:spPr>
      </p:pic>
    </p:spTree>
    <p:extLst>
      <p:ext uri="{BB962C8B-B14F-4D97-AF65-F5344CB8AC3E}">
        <p14:creationId xmlns:p14="http://schemas.microsoft.com/office/powerpoint/2010/main" val="19118562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E8C1B-2D58-9B7E-1EEE-52C9FA509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een line graph with white background&#10;&#10;AI-generated content may be incorrect.">
            <a:extLst>
              <a:ext uri="{FF2B5EF4-FFF2-40B4-BE49-F238E27FC236}">
                <a16:creationId xmlns:a16="http://schemas.microsoft.com/office/drawing/2014/main" id="{7B546698-9018-63A4-BAE9-6C7D8EFCE4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35401" y="0"/>
            <a:ext cx="13716000" cy="6858000"/>
          </a:xfrm>
        </p:spPr>
      </p:pic>
    </p:spTree>
    <p:extLst>
      <p:ext uri="{BB962C8B-B14F-4D97-AF65-F5344CB8AC3E}">
        <p14:creationId xmlns:p14="http://schemas.microsoft.com/office/powerpoint/2010/main" val="26479957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B7E2F-7E3F-C82C-38AE-F15998466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een graph with white text&#10;&#10;AI-generated content may be incorrect.">
            <a:extLst>
              <a:ext uri="{FF2B5EF4-FFF2-40B4-BE49-F238E27FC236}">
                <a16:creationId xmlns:a16="http://schemas.microsoft.com/office/drawing/2014/main" id="{694A04CE-D44D-1831-D08A-511DCB5D2D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04773" y="0"/>
            <a:ext cx="13716000" cy="6858000"/>
          </a:xfrm>
        </p:spPr>
      </p:pic>
    </p:spTree>
    <p:extLst>
      <p:ext uri="{BB962C8B-B14F-4D97-AF65-F5344CB8AC3E}">
        <p14:creationId xmlns:p14="http://schemas.microsoft.com/office/powerpoint/2010/main" val="6893807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228C8-A49F-BD5C-61C7-FE42013D7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aph showing a graph&#10;&#10;AI-generated content may be incorrect.">
            <a:extLst>
              <a:ext uri="{FF2B5EF4-FFF2-40B4-BE49-F238E27FC236}">
                <a16:creationId xmlns:a16="http://schemas.microsoft.com/office/drawing/2014/main" id="{0F78E4BE-5590-C488-B272-A2A93C9ABE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23525" y="0"/>
            <a:ext cx="13716000" cy="6858000"/>
          </a:xfrm>
        </p:spPr>
      </p:pic>
    </p:spTree>
    <p:extLst>
      <p:ext uri="{BB962C8B-B14F-4D97-AF65-F5344CB8AC3E}">
        <p14:creationId xmlns:p14="http://schemas.microsoft.com/office/powerpoint/2010/main" val="24165395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48690-898F-DF72-B638-E8A1A4C66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aph of a graph&#10;&#10;AI-generated content may be incorrect.">
            <a:extLst>
              <a:ext uri="{FF2B5EF4-FFF2-40B4-BE49-F238E27FC236}">
                <a16:creationId xmlns:a16="http://schemas.microsoft.com/office/drawing/2014/main" id="{E48ACEA5-82DD-C886-235E-0C4CC112A5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9774" y="0"/>
            <a:ext cx="13716000" cy="6858000"/>
          </a:xfrm>
        </p:spPr>
      </p:pic>
    </p:spTree>
    <p:extLst>
      <p:ext uri="{BB962C8B-B14F-4D97-AF65-F5344CB8AC3E}">
        <p14:creationId xmlns:p14="http://schemas.microsoft.com/office/powerpoint/2010/main" val="17132426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EDF5EF3-4E19-C6FD-F143-116DBC2BE8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951" y="623197"/>
            <a:ext cx="5663610" cy="4046464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A11C1C7E-A35F-4DC1-58D7-4EF2C0D131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0968"/>
          <a:stretch>
            <a:fillRect/>
          </a:stretch>
        </p:blipFill>
        <p:spPr>
          <a:xfrm>
            <a:off x="6060561" y="805017"/>
            <a:ext cx="5509372" cy="368282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48E160C-4908-DEDF-3581-BD50B279D79F}"/>
              </a:ext>
            </a:extLst>
          </p:cNvPr>
          <p:cNvSpPr txBox="1"/>
          <p:nvPr/>
        </p:nvSpPr>
        <p:spPr>
          <a:xfrm>
            <a:off x="2482916" y="453920"/>
            <a:ext cx="14475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MERRA-2 data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78ADF0-8771-5E12-E23D-DAA2E8EC7B97}"/>
              </a:ext>
            </a:extLst>
          </p:cNvPr>
          <p:cNvSpPr txBox="1"/>
          <p:nvPr/>
        </p:nvSpPr>
        <p:spPr>
          <a:xfrm>
            <a:off x="2751611" y="4512140"/>
            <a:ext cx="14411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From: Kuo, 2017</a:t>
            </a:r>
          </a:p>
        </p:txBody>
      </p:sp>
      <p:graphicFrame>
        <p:nvGraphicFramePr>
          <p:cNvPr id="16" name="Content Placeholder 3">
            <a:extLst>
              <a:ext uri="{FF2B5EF4-FFF2-40B4-BE49-F238E27FC236}">
                <a16:creationId xmlns:a16="http://schemas.microsoft.com/office/drawing/2014/main" id="{A819EB07-4F83-0769-EDE7-BC0302FC4B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22083926"/>
              </p:ext>
            </p:extLst>
          </p:nvPr>
        </p:nvGraphicFramePr>
        <p:xfrm>
          <a:off x="4905156" y="4851481"/>
          <a:ext cx="5979396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4849">
                  <a:extLst>
                    <a:ext uri="{9D8B030D-6E8A-4147-A177-3AD203B41FA5}">
                      <a16:colId xmlns:a16="http://schemas.microsoft.com/office/drawing/2014/main" val="3959849250"/>
                    </a:ext>
                  </a:extLst>
                </a:gridCol>
                <a:gridCol w="1494849">
                  <a:extLst>
                    <a:ext uri="{9D8B030D-6E8A-4147-A177-3AD203B41FA5}">
                      <a16:colId xmlns:a16="http://schemas.microsoft.com/office/drawing/2014/main" val="1678413133"/>
                    </a:ext>
                  </a:extLst>
                </a:gridCol>
                <a:gridCol w="1494849">
                  <a:extLst>
                    <a:ext uri="{9D8B030D-6E8A-4147-A177-3AD203B41FA5}">
                      <a16:colId xmlns:a16="http://schemas.microsoft.com/office/drawing/2014/main" val="519762489"/>
                    </a:ext>
                  </a:extLst>
                </a:gridCol>
                <a:gridCol w="1494849">
                  <a:extLst>
                    <a:ext uri="{9D8B030D-6E8A-4147-A177-3AD203B41FA5}">
                      <a16:colId xmlns:a16="http://schemas.microsoft.com/office/drawing/2014/main" val="1663892318"/>
                    </a:ext>
                  </a:extLst>
                </a:gridCol>
              </a:tblGrid>
              <a:tr h="564408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from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50% (median)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281417"/>
                  </a:ext>
                </a:extLst>
              </a:tr>
              <a:tr h="322519">
                <a:tc>
                  <a:txBody>
                    <a:bodyPr/>
                    <a:lstStyle/>
                    <a:p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PWV(mm)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5101281"/>
                  </a:ext>
                </a:extLst>
              </a:tr>
              <a:tr h="326998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MERRA-2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0.231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0.321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0.448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8805574"/>
                  </a:ext>
                </a:extLst>
              </a:tr>
              <a:tr h="322519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AZ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0.368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0.470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0.600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431416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F5F978FA-CB16-28DB-668B-4DEE08D70A4B}"/>
              </a:ext>
            </a:extLst>
          </p:cNvPr>
          <p:cNvSpPr txBox="1"/>
          <p:nvPr/>
        </p:nvSpPr>
        <p:spPr>
          <a:xfrm>
            <a:off x="8186105" y="466463"/>
            <a:ext cx="7248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1600"/>
            </a:lvl1pPr>
          </a:lstStyle>
          <a:p>
            <a:r>
              <a:rPr lang="en-US"/>
              <a:t>AZ file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16743E-68C7-2737-DC7F-EE724DB6302E}"/>
              </a:ext>
            </a:extLst>
          </p:cNvPr>
          <p:cNvSpPr txBox="1"/>
          <p:nvPr/>
        </p:nvSpPr>
        <p:spPr>
          <a:xfrm>
            <a:off x="414883" y="5019135"/>
            <a:ext cx="41360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Note: The data are excluding summer months, which is November–February for the Southern Hemisphere.</a:t>
            </a:r>
          </a:p>
        </p:txBody>
      </p:sp>
    </p:spTree>
    <p:extLst>
      <p:ext uri="{BB962C8B-B14F-4D97-AF65-F5344CB8AC3E}">
        <p14:creationId xmlns:p14="http://schemas.microsoft.com/office/powerpoint/2010/main" val="297975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092543C-C102-DE03-E2C1-75DFBC9B968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83107731"/>
              </p:ext>
            </p:extLst>
          </p:nvPr>
        </p:nvGraphicFramePr>
        <p:xfrm>
          <a:off x="168349" y="3530009"/>
          <a:ext cx="6151288" cy="1742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7822">
                  <a:extLst>
                    <a:ext uri="{9D8B030D-6E8A-4147-A177-3AD203B41FA5}">
                      <a16:colId xmlns:a16="http://schemas.microsoft.com/office/drawing/2014/main" val="3959849250"/>
                    </a:ext>
                  </a:extLst>
                </a:gridCol>
                <a:gridCol w="1537822">
                  <a:extLst>
                    <a:ext uri="{9D8B030D-6E8A-4147-A177-3AD203B41FA5}">
                      <a16:colId xmlns:a16="http://schemas.microsoft.com/office/drawing/2014/main" val="1678413133"/>
                    </a:ext>
                  </a:extLst>
                </a:gridCol>
                <a:gridCol w="1537822">
                  <a:extLst>
                    <a:ext uri="{9D8B030D-6E8A-4147-A177-3AD203B41FA5}">
                      <a16:colId xmlns:a16="http://schemas.microsoft.com/office/drawing/2014/main" val="519762489"/>
                    </a:ext>
                  </a:extLst>
                </a:gridCol>
                <a:gridCol w="1537822">
                  <a:extLst>
                    <a:ext uri="{9D8B030D-6E8A-4147-A177-3AD203B41FA5}">
                      <a16:colId xmlns:a16="http://schemas.microsoft.com/office/drawing/2014/main" val="1663892318"/>
                    </a:ext>
                  </a:extLst>
                </a:gridCol>
              </a:tblGrid>
              <a:tr h="250707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from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50% (median)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281417"/>
                  </a:ext>
                </a:extLst>
              </a:tr>
              <a:tr h="250707">
                <a:tc>
                  <a:txBody>
                    <a:bodyPr/>
                    <a:lstStyle/>
                    <a:p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PWV(mm)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51012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MERRA-2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0.231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0.321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0.448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880557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AZ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0.368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0.470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0.600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43141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39361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1212</TotalTime>
  <Words>323</Words>
  <Application>Microsoft Office PowerPoint</Application>
  <PresentationFormat>Widescreen</PresentationFormat>
  <Paragraphs>63</Paragraphs>
  <Slides>29</Slides>
  <Notes>0</Notes>
  <HiddenSlides>20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Aptos</vt:lpstr>
      <vt:lpstr>Aptos Display</vt:lpstr>
      <vt:lpstr>Arial</vt:lpstr>
      <vt:lpstr>Times New Roman</vt:lpstr>
      <vt:lpstr>Office Theme</vt:lpstr>
      <vt:lpstr>PowerPoint Presentation</vt:lpstr>
      <vt:lpstr>BG: what is input data</vt:lpstr>
      <vt:lpstr>What I used in data</vt:lpstr>
      <vt:lpstr>How avg</vt:lpstr>
      <vt:lpstr>PowerPoint Presentation</vt:lpstr>
      <vt:lpstr>PowerPoint Presentation</vt:lpstr>
      <vt:lpstr>What’s the different of am fitting file</vt:lpstr>
      <vt:lpstr>PowerPoint Presentation</vt:lpstr>
      <vt:lpstr>Output amc file</vt:lpstr>
      <vt:lpstr>Output amc file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Regon Chen</dc:creator>
  <cp:lastModifiedBy>Regon Chen</cp:lastModifiedBy>
  <cp:revision>11</cp:revision>
  <dcterms:created xsi:type="dcterms:W3CDTF">2025-08-05T15:11:48Z</dcterms:created>
  <dcterms:modified xsi:type="dcterms:W3CDTF">2025-08-14T20:31:25Z</dcterms:modified>
</cp:coreProperties>
</file>